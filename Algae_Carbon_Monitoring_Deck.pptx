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96012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HACKOUT’26  ·  CIRCULAR CARBON ECOSYSTEM</a:t>
            </a:r>
          </a:p>
        </p:txBody>
      </p:sp>
      <p:sp>
        <p:nvSpPr>
          <p:cNvPr id="3" name="TextBox 2"/>
          <p:cNvSpPr txBox="1"/>
          <p:nvPr/>
        </p:nvSpPr>
        <p:spPr>
          <a:xfrm>
            <a:off x="822960" y="1298448"/>
            <a:ext cx="6583680" cy="1828800"/>
          </a:xfrm>
          <a:prstGeom prst="rect">
            <a:avLst/>
          </a:prstGeom>
          <a:noFill/>
        </p:spPr>
        <p:txBody>
          <a:bodyPr wrap="square" anchor="t" lIns="0" rIns="0" tIns="0" bIns="0">
            <a:spAutoFit/>
          </a:bodyPr>
          <a:lstStyle/>
          <a:p>
            <a:pPr algn="l">
              <a:lnSpc>
                <a:spcPct val="100000"/>
              </a:lnSpc>
              <a:spcBef>
                <a:spcPts val="0"/>
              </a:spcBef>
              <a:spcAft>
                <a:spcPts val="0"/>
              </a:spcAft>
            </a:pPr>
            <a:r>
              <a:rPr sz="5200" b="0" i="0">
                <a:solidFill>
                  <a:srgbClr val="EAF6F3"/>
                </a:solidFill>
                <a:latin typeface="Georgia"/>
              </a:rPr>
              <a:t>Algae Carbon</a:t>
            </a:r>
          </a:p>
          <a:p>
            <a:pPr algn="l">
              <a:lnSpc>
                <a:spcPct val="100000"/>
              </a:lnSpc>
              <a:spcBef>
                <a:spcPts val="0"/>
              </a:spcBef>
              <a:spcAft>
                <a:spcPts val="0"/>
              </a:spcAft>
            </a:pPr>
            <a:r>
              <a:rPr sz="5200" b="0" i="0">
                <a:solidFill>
                  <a:srgbClr val="EAF6F3"/>
                </a:solidFill>
                <a:latin typeface="Georgia"/>
              </a:rPr>
              <a:t>Monitoring</a:t>
            </a:r>
          </a:p>
        </p:txBody>
      </p:sp>
      <p:sp>
        <p:nvSpPr>
          <p:cNvPr id="4" name="TextBox 3"/>
          <p:cNvSpPr txBox="1"/>
          <p:nvPr/>
        </p:nvSpPr>
        <p:spPr>
          <a:xfrm>
            <a:off x="822960" y="3127248"/>
            <a:ext cx="5577840" cy="822960"/>
          </a:xfrm>
          <a:prstGeom prst="rect">
            <a:avLst/>
          </a:prstGeom>
          <a:noFill/>
        </p:spPr>
        <p:txBody>
          <a:bodyPr wrap="square" anchor="t" lIns="0" rIns="0" tIns="0" bIns="0">
            <a:spAutoFit/>
          </a:bodyPr>
          <a:lstStyle/>
          <a:p>
            <a:pPr algn="l">
              <a:lnSpc>
                <a:spcPct val="120000"/>
              </a:lnSpc>
              <a:spcBef>
                <a:spcPts val="0"/>
              </a:spcBef>
              <a:spcAft>
                <a:spcPts val="0"/>
              </a:spcAft>
            </a:pPr>
            <a:r>
              <a:rPr sz="2000" b="0" i="1">
                <a:solidFill>
                  <a:srgbClr val="EAF6F3"/>
                </a:solidFill>
                <a:latin typeface="Georgia"/>
              </a:rPr>
              <a:t>We don’t just show sensor numbers — we prove them.</a:t>
            </a:r>
          </a:p>
        </p:txBody>
      </p:sp>
      <p:sp>
        <p:nvSpPr>
          <p:cNvPr id="5" name="TextBox 4"/>
          <p:cNvSpPr txBox="1"/>
          <p:nvPr/>
        </p:nvSpPr>
        <p:spPr>
          <a:xfrm>
            <a:off x="822960" y="4041648"/>
            <a:ext cx="5943600" cy="1280160"/>
          </a:xfrm>
          <a:prstGeom prst="rect">
            <a:avLst/>
          </a:prstGeom>
          <a:noFill/>
        </p:spPr>
        <p:txBody>
          <a:bodyPr wrap="square" anchor="t" lIns="0" rIns="0" tIns="0" bIns="0">
            <a:spAutoFit/>
          </a:bodyPr>
          <a:lstStyle/>
          <a:p>
            <a:pPr algn="l">
              <a:lnSpc>
                <a:spcPct val="134000"/>
              </a:lnSpc>
              <a:spcBef>
                <a:spcPts val="0"/>
              </a:spcBef>
              <a:spcAft>
                <a:spcPts val="0"/>
              </a:spcAft>
            </a:pPr>
            <a:r>
              <a:rPr sz="1350" b="0" i="0">
                <a:solidFill>
                  <a:srgbClr val="A7C3BE"/>
                </a:solidFill>
                <a:latin typeface="Segoe UI"/>
              </a:rPr>
              <a:t>A verification layer for algae carbon credits: every reported figure is cross-checked against independent satellite imagery of the same pond, over the same days, before anyone calls it carbon.</a:t>
            </a:r>
          </a:p>
        </p:txBody>
      </p:sp>
      <p:sp>
        <p:nvSpPr>
          <p:cNvPr id="6" name="TextBox 5"/>
          <p:cNvSpPr txBox="1"/>
          <p:nvPr/>
        </p:nvSpPr>
        <p:spPr>
          <a:xfrm>
            <a:off x="822960" y="5358384"/>
            <a:ext cx="5943600" cy="64008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7D9A95"/>
                </a:solidFill>
                <a:latin typeface="Consolas"/>
              </a:rPr>
              <a:t>Team Pixel Error  ·  Adani University</a:t>
            </a:r>
          </a:p>
          <a:p>
            <a:pPr algn="l">
              <a:lnSpc>
                <a:spcPct val="100000"/>
              </a:lnSpc>
              <a:spcBef>
                <a:spcPts val="300"/>
              </a:spcBef>
              <a:spcAft>
                <a:spcPts val="0"/>
              </a:spcAft>
            </a:pPr>
            <a:r>
              <a:rPr sz="1100" b="0" i="0">
                <a:solidFill>
                  <a:srgbClr val="2DD4BF"/>
                </a:solidFill>
                <a:latin typeface="Consolas"/>
              </a:rPr>
              <a:t>algae-carbon-platform.onrender.com</a:t>
            </a:r>
          </a:p>
        </p:txBody>
      </p:sp>
      <p:sp>
        <p:nvSpPr>
          <p:cNvPr id="7" name="Freeform 6"/>
          <p:cNvSpPr/>
          <p:nvPr/>
        </p:nvSpPr>
        <p:spPr>
          <a:xfrm>
            <a:off x="9187219" y="2418588"/>
            <a:ext cx="459701" cy="1783080"/>
          </a:xfrm>
          <a:custGeom>
            <a:avLst/>
            <a:gdLst/>
            <a:ahLst/>
            <a:cxnLst/>
            <a:rect l="l" t="t" r="r" b="b"/>
            <a:pathLst>
              <a:path w="459701" h="1783080">
                <a:moveTo>
                  <a:pt x="459701" y="0"/>
                </a:moveTo>
                <a:lnTo>
                  <a:pt x="407209" y="37472"/>
                </a:lnTo>
                <a:lnTo>
                  <a:pt x="357898" y="77667"/>
                </a:lnTo>
                <a:lnTo>
                  <a:pt x="311769" y="120413"/>
                </a:lnTo>
                <a:lnTo>
                  <a:pt x="268821" y="165541"/>
                </a:lnTo>
                <a:lnTo>
                  <a:pt x="229055" y="212881"/>
                </a:lnTo>
                <a:lnTo>
                  <a:pt x="192470" y="262263"/>
                </a:lnTo>
                <a:lnTo>
                  <a:pt x="159066" y="313515"/>
                </a:lnTo>
                <a:lnTo>
                  <a:pt x="128844" y="366469"/>
                </a:lnTo>
                <a:lnTo>
                  <a:pt x="101802" y="420954"/>
                </a:lnTo>
                <a:lnTo>
                  <a:pt x="77942" y="476800"/>
                </a:lnTo>
                <a:lnTo>
                  <a:pt x="57264" y="533837"/>
                </a:lnTo>
                <a:lnTo>
                  <a:pt x="39767" y="591895"/>
                </a:lnTo>
                <a:lnTo>
                  <a:pt x="25451" y="650803"/>
                </a:lnTo>
                <a:lnTo>
                  <a:pt x="14316" y="710392"/>
                </a:lnTo>
                <a:lnTo>
                  <a:pt x="6363" y="770491"/>
                </a:lnTo>
                <a:lnTo>
                  <a:pt x="1591" y="830930"/>
                </a:lnTo>
                <a:lnTo>
                  <a:pt x="0" y="891540"/>
                </a:lnTo>
                <a:lnTo>
                  <a:pt x="1591" y="952149"/>
                </a:lnTo>
                <a:lnTo>
                  <a:pt x="6363" y="1012588"/>
                </a:lnTo>
                <a:lnTo>
                  <a:pt x="14316" y="1072687"/>
                </a:lnTo>
                <a:lnTo>
                  <a:pt x="25451" y="1132276"/>
                </a:lnTo>
                <a:lnTo>
                  <a:pt x="39767" y="1191184"/>
                </a:lnTo>
                <a:lnTo>
                  <a:pt x="57264" y="1249242"/>
                </a:lnTo>
                <a:lnTo>
                  <a:pt x="77942" y="1306279"/>
                </a:lnTo>
                <a:lnTo>
                  <a:pt x="101802" y="1362125"/>
                </a:lnTo>
                <a:lnTo>
                  <a:pt x="128844" y="1416610"/>
                </a:lnTo>
                <a:lnTo>
                  <a:pt x="159066" y="1469564"/>
                </a:lnTo>
                <a:lnTo>
                  <a:pt x="192470" y="1520816"/>
                </a:lnTo>
                <a:lnTo>
                  <a:pt x="229055" y="1570198"/>
                </a:lnTo>
                <a:lnTo>
                  <a:pt x="268821" y="1617538"/>
                </a:lnTo>
                <a:lnTo>
                  <a:pt x="311769" y="1662666"/>
                </a:lnTo>
                <a:lnTo>
                  <a:pt x="357898" y="1705412"/>
                </a:lnTo>
                <a:lnTo>
                  <a:pt x="407209" y="1745607"/>
                </a:lnTo>
                <a:lnTo>
                  <a:pt x="459701" y="1783080"/>
                </a:lnTo>
              </a:path>
            </a:pathLst>
          </a:custGeom>
          <a:noFill/>
          <a:ln w="38100">
            <a:solidFill>
              <a:srgbClr val="5AA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9646920" y="2418588"/>
            <a:ext cx="459700" cy="1783080"/>
          </a:xfrm>
          <a:custGeom>
            <a:avLst/>
            <a:gdLst/>
            <a:ahLst/>
            <a:cxnLst/>
            <a:rect l="l" t="t" r="r" b="b"/>
            <a:pathLst>
              <a:path w="459700" h="1783080">
                <a:moveTo>
                  <a:pt x="0" y="0"/>
                </a:moveTo>
                <a:lnTo>
                  <a:pt x="52491" y="37472"/>
                </a:lnTo>
                <a:lnTo>
                  <a:pt x="101802" y="77667"/>
                </a:lnTo>
                <a:lnTo>
                  <a:pt x="147931" y="120413"/>
                </a:lnTo>
                <a:lnTo>
                  <a:pt x="190879" y="165541"/>
                </a:lnTo>
                <a:lnTo>
                  <a:pt x="230645" y="212881"/>
                </a:lnTo>
                <a:lnTo>
                  <a:pt x="267230" y="262263"/>
                </a:lnTo>
                <a:lnTo>
                  <a:pt x="300634" y="313515"/>
                </a:lnTo>
                <a:lnTo>
                  <a:pt x="330856" y="366469"/>
                </a:lnTo>
                <a:lnTo>
                  <a:pt x="357898" y="420954"/>
                </a:lnTo>
                <a:lnTo>
                  <a:pt x="381758" y="476800"/>
                </a:lnTo>
                <a:lnTo>
                  <a:pt x="402436" y="533837"/>
                </a:lnTo>
                <a:lnTo>
                  <a:pt x="419933" y="591895"/>
                </a:lnTo>
                <a:lnTo>
                  <a:pt x="434249" y="650803"/>
                </a:lnTo>
                <a:lnTo>
                  <a:pt x="445384" y="710392"/>
                </a:lnTo>
                <a:lnTo>
                  <a:pt x="453337" y="770491"/>
                </a:lnTo>
                <a:lnTo>
                  <a:pt x="458109" y="830930"/>
                </a:lnTo>
                <a:lnTo>
                  <a:pt x="459700" y="891540"/>
                </a:lnTo>
                <a:lnTo>
                  <a:pt x="458109" y="952149"/>
                </a:lnTo>
                <a:lnTo>
                  <a:pt x="453337" y="1012588"/>
                </a:lnTo>
                <a:lnTo>
                  <a:pt x="445384" y="1072687"/>
                </a:lnTo>
                <a:lnTo>
                  <a:pt x="434249" y="1132276"/>
                </a:lnTo>
                <a:lnTo>
                  <a:pt x="419933" y="1191184"/>
                </a:lnTo>
                <a:lnTo>
                  <a:pt x="402436" y="1249242"/>
                </a:lnTo>
                <a:lnTo>
                  <a:pt x="381758" y="1306279"/>
                </a:lnTo>
                <a:lnTo>
                  <a:pt x="357898" y="1362125"/>
                </a:lnTo>
                <a:lnTo>
                  <a:pt x="330856" y="1416610"/>
                </a:lnTo>
                <a:lnTo>
                  <a:pt x="300634" y="1469564"/>
                </a:lnTo>
                <a:lnTo>
                  <a:pt x="267230" y="1520816"/>
                </a:lnTo>
                <a:lnTo>
                  <a:pt x="230645" y="1570198"/>
                </a:lnTo>
                <a:lnTo>
                  <a:pt x="190879" y="1617538"/>
                </a:lnTo>
                <a:lnTo>
                  <a:pt x="147931" y="1662666"/>
                </a:lnTo>
                <a:lnTo>
                  <a:pt x="101802" y="1705412"/>
                </a:lnTo>
                <a:lnTo>
                  <a:pt x="52491" y="1745607"/>
                </a:lnTo>
                <a:lnTo>
                  <a:pt x="0" y="1783080"/>
                </a:lnTo>
              </a:path>
            </a:pathLst>
          </a:custGeom>
          <a:noFill/>
          <a:ln w="38100">
            <a:solidFill>
              <a:srgbClr val="FF91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46920" y="2418588"/>
            <a:ext cx="12700" cy="1783080"/>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4617720"/>
            <a:ext cx="4023360" cy="914400"/>
          </a:xfrm>
          <a:prstGeom prst="rect">
            <a:avLst/>
          </a:prstGeom>
          <a:noFill/>
        </p:spPr>
        <p:txBody>
          <a:bodyPr wrap="square" anchor="t" lIns="0" rIns="0" tIns="0" bIns="0">
            <a:spAutoFit/>
          </a:bodyPr>
          <a:lstStyle/>
          <a:p>
            <a:pPr algn="ctr">
              <a:lnSpc>
                <a:spcPct val="130000"/>
              </a:lnSpc>
              <a:spcBef>
                <a:spcPts val="0"/>
              </a:spcBef>
              <a:spcAft>
                <a:spcPts val="0"/>
              </a:spcAft>
            </a:pPr>
            <a:r>
              <a:rPr sz="1050" b="0" i="0">
                <a:solidFill>
                  <a:srgbClr val="7D9A95"/>
                </a:solidFill>
                <a:latin typeface="Segoe UI"/>
              </a:rPr>
              <a:t>The mark is the argument. Solid half: the sensor record. Dashed half: the independent satellite proxy drawn against it. They close into a leaf only when the two agree.</a:t>
            </a:r>
          </a:p>
        </p:txBody>
      </p:sp>
      <p:sp>
        <p:nvSpPr>
          <p:cNvPr id="11" name="Rectangle 10"/>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6272784"/>
            <a:ext cx="1054303"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1 / 10</a:t>
            </a:r>
          </a:p>
        </p:txBody>
      </p:sp>
      <p:sp>
        <p:nvSpPr>
          <p:cNvPr id="14" name="TextBox 13"/>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Algae Carbon Monitoring  ·  Pixel Error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THE PROBLEM</a:t>
            </a:r>
          </a:p>
        </p:txBody>
      </p:sp>
      <p:sp>
        <p:nvSpPr>
          <p:cNvPr id="3" name="TextBox 2"/>
          <p:cNvSpPr txBox="1"/>
          <p:nvPr/>
        </p:nvSpPr>
        <p:spPr>
          <a:xfrm>
            <a:off x="822960" y="932688"/>
            <a:ext cx="8778240" cy="1371600"/>
          </a:xfrm>
          <a:prstGeom prst="rect">
            <a:avLst/>
          </a:prstGeom>
          <a:noFill/>
        </p:spPr>
        <p:txBody>
          <a:bodyPr wrap="square" anchor="t" lIns="0" rIns="0" tIns="0" bIns="0">
            <a:spAutoFit/>
          </a:bodyPr>
          <a:lstStyle/>
          <a:p>
            <a:pPr algn="l">
              <a:lnSpc>
                <a:spcPct val="110000"/>
              </a:lnSpc>
              <a:spcBef>
                <a:spcPts val="0"/>
              </a:spcBef>
              <a:spcAft>
                <a:spcPts val="0"/>
              </a:spcAft>
            </a:pPr>
            <a:r>
              <a:rPr sz="3400" b="0" i="0">
                <a:solidFill>
                  <a:srgbClr val="EAF6F3"/>
                </a:solidFill>
                <a:latin typeface="Georgia"/>
              </a:rPr>
              <a:t>The seller owns the instrument,
the number, and the incentive.</a:t>
            </a:r>
          </a:p>
        </p:txBody>
      </p:sp>
      <p:sp>
        <p:nvSpPr>
          <p:cNvPr id="4" name="TextBox 3"/>
          <p:cNvSpPr txBox="1"/>
          <p:nvPr/>
        </p:nvSpPr>
        <p:spPr>
          <a:xfrm>
            <a:off x="822960" y="2487168"/>
            <a:ext cx="5212080" cy="2377440"/>
          </a:xfrm>
          <a:prstGeom prst="rect">
            <a:avLst/>
          </a:prstGeom>
          <a:noFill/>
        </p:spPr>
        <p:txBody>
          <a:bodyPr wrap="square" anchor="t" lIns="0" rIns="0" tIns="0" bIns="0">
            <a:spAutoFit/>
          </a:bodyPr>
          <a:lstStyle/>
          <a:p>
            <a:pPr algn="l">
              <a:lnSpc>
                <a:spcPct val="136000"/>
              </a:lnSpc>
              <a:spcBef>
                <a:spcPts val="0"/>
              </a:spcBef>
              <a:spcAft>
                <a:spcPts val="0"/>
              </a:spcAft>
            </a:pPr>
            <a:r>
              <a:rPr sz="1400" b="0" i="0">
                <a:solidFill>
                  <a:srgbClr val="A7C3BE"/>
                </a:solidFill>
                <a:latin typeface="Segoe UI"/>
              </a:rPr>
              <a:t>Algae fixes CO₂ faster per hectare than forest, and carbon credits are issued against it. The figure that sets the price comes from sensors in the operator’s own ponds, read by the operator’s own software, and sent to a verifier as a spreadsheet.</a:t>
            </a:r>
          </a:p>
          <a:p>
            <a:pPr algn="l">
              <a:lnSpc>
                <a:spcPct val="136000"/>
              </a:lnSpc>
              <a:spcBef>
                <a:spcPts val="1300"/>
              </a:spcBef>
              <a:spcAft>
                <a:spcPts val="0"/>
              </a:spcAft>
            </a:pPr>
            <a:r>
              <a:rPr sz="1300" b="0" i="0">
                <a:solidFill>
                  <a:srgbClr val="A7C3BE"/>
                </a:solidFill>
                <a:latin typeface="Segoe UI"/>
              </a:rPr>
              <a:t>Nothing in that chain is independent. A pond that underperforms and a pond that is over-reported produce the same document, and a verifier holding it has no second source to separate them.</a:t>
            </a:r>
          </a:p>
        </p:txBody>
      </p:sp>
      <p:sp>
        <p:nvSpPr>
          <p:cNvPr id="5" name="Rounded Rectangle 4"/>
          <p:cNvSpPr/>
          <p:nvPr/>
        </p:nvSpPr>
        <p:spPr>
          <a:xfrm>
            <a:off x="6583680" y="2487168"/>
            <a:ext cx="4791456" cy="2615184"/>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76288" y="2724912"/>
            <a:ext cx="420624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WHAT THE BUYER IS ACTUALLY TRUSTING</a:t>
            </a:r>
          </a:p>
        </p:txBody>
      </p:sp>
      <p:sp>
        <p:nvSpPr>
          <p:cNvPr id="7" name="TextBox 6"/>
          <p:cNvSpPr txBox="1"/>
          <p:nvPr/>
        </p:nvSpPr>
        <p:spPr>
          <a:xfrm>
            <a:off x="6876288" y="3127248"/>
            <a:ext cx="4206240" cy="1828800"/>
          </a:xfrm>
          <a:prstGeom prst="rect">
            <a:avLst/>
          </a:prstGeom>
          <a:noFill/>
        </p:spPr>
        <p:txBody>
          <a:bodyPr wrap="square" anchor="t" lIns="0" rIns="0" tIns="0" bIns="0">
            <a:spAutoFit/>
          </a:bodyPr>
          <a:lstStyle/>
          <a:p>
            <a:pPr>
              <a:lnSpc>
                <a:spcPct val="124000"/>
              </a:lnSpc>
              <a:spcAft>
                <a:spcPts val="700"/>
              </a:spcAft>
            </a:pPr>
            <a:r>
              <a:rPr sz="1300">
                <a:solidFill>
                  <a:srgbClr val="2DD4BF"/>
                </a:solidFill>
                <a:latin typeface="Segoe UI"/>
              </a:rPr>
              <a:t>—  </a:t>
            </a:r>
            <a:r>
              <a:rPr sz="1300" b="0">
                <a:solidFill>
                  <a:srgbClr val="A7C3BE"/>
                </a:solidFill>
                <a:latin typeface="Segoe UI"/>
              </a:rPr>
              <a:t>The hardware was calibrated, by the party being paid.</a:t>
            </a:r>
          </a:p>
          <a:p>
            <a:pPr>
              <a:lnSpc>
                <a:spcPct val="124000"/>
              </a:lnSpc>
              <a:spcAft>
                <a:spcPts val="700"/>
              </a:spcAft>
            </a:pPr>
            <a:r>
              <a:rPr sz="1300">
                <a:solidFill>
                  <a:srgbClr val="2DD4BF"/>
                </a:solidFill>
                <a:latin typeface="Segoe UI"/>
              </a:rPr>
              <a:t>—  </a:t>
            </a:r>
            <a:r>
              <a:rPr sz="1300" b="0">
                <a:solidFill>
                  <a:srgbClr val="A7C3BE"/>
                </a:solidFill>
                <a:latin typeface="Segoe UI"/>
              </a:rPr>
              <a:t>The readings were not selectively dropped.</a:t>
            </a:r>
          </a:p>
          <a:p>
            <a:pPr>
              <a:lnSpc>
                <a:spcPct val="124000"/>
              </a:lnSpc>
              <a:spcAft>
                <a:spcPts val="700"/>
              </a:spcAft>
            </a:pPr>
            <a:r>
              <a:rPr sz="1300">
                <a:solidFill>
                  <a:srgbClr val="2DD4BF"/>
                </a:solidFill>
                <a:latin typeface="Segoe UI"/>
              </a:rPr>
              <a:t>—  </a:t>
            </a:r>
            <a:r>
              <a:rPr sz="1300" b="0">
                <a:solidFill>
                  <a:srgbClr val="A7C3BE"/>
                </a:solidFill>
                <a:latin typeface="Segoe UI"/>
              </a:rPr>
              <a:t>The growth curve is biology, not a spreadsheet.</a:t>
            </a:r>
          </a:p>
          <a:p>
            <a:pPr>
              <a:lnSpc>
                <a:spcPct val="124000"/>
              </a:lnSpc>
              <a:spcAft>
                <a:spcPts val="700"/>
              </a:spcAft>
            </a:pPr>
            <a:r>
              <a:rPr sz="1300">
                <a:solidFill>
                  <a:srgbClr val="2DD4BF"/>
                </a:solidFill>
                <a:latin typeface="Segoe UI"/>
              </a:rPr>
              <a:t>—  </a:t>
            </a:r>
            <a:r>
              <a:rPr sz="1300" b="0">
                <a:solidFill>
                  <a:srgbClr val="A7C3BE"/>
                </a:solidFill>
                <a:latin typeface="Segoe UI"/>
              </a:rPr>
              <a:t>The pond existed, at that size, on those dates.</a:t>
            </a:r>
          </a:p>
        </p:txBody>
      </p:sp>
      <p:sp>
        <p:nvSpPr>
          <p:cNvPr id="8" name="Rectangle 7"/>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6272784"/>
            <a:ext cx="2108606"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2 / 10</a:t>
            </a:r>
          </a:p>
        </p:txBody>
      </p:sp>
      <p:sp>
        <p:nvSpPr>
          <p:cNvPr id="11" name="TextBox 10"/>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Algae Carbon Monitoring  ·  Pixel Error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THE GAP</a:t>
            </a:r>
          </a:p>
        </p:txBody>
      </p:sp>
      <p:sp>
        <p:nvSpPr>
          <p:cNvPr id="3" name="TextBox 2"/>
          <p:cNvSpPr txBox="1"/>
          <p:nvPr/>
        </p:nvSpPr>
        <p:spPr>
          <a:xfrm>
            <a:off x="822960" y="932688"/>
            <a:ext cx="8412480" cy="1371600"/>
          </a:xfrm>
          <a:prstGeom prst="rect">
            <a:avLst/>
          </a:prstGeom>
          <a:noFill/>
        </p:spPr>
        <p:txBody>
          <a:bodyPr wrap="square" anchor="t" lIns="0" rIns="0" tIns="0" bIns="0">
            <a:spAutoFit/>
          </a:bodyPr>
          <a:lstStyle/>
          <a:p>
            <a:pPr algn="l">
              <a:lnSpc>
                <a:spcPct val="110000"/>
              </a:lnSpc>
              <a:spcBef>
                <a:spcPts val="0"/>
              </a:spcBef>
              <a:spcAft>
                <a:spcPts val="0"/>
              </a:spcAft>
            </a:pPr>
            <a:r>
              <a:rPr sz="3400" b="0" i="0">
                <a:solidFill>
                  <a:srgbClr val="EAF6F3"/>
                </a:solidFill>
                <a:latin typeface="Georgia"/>
              </a:rPr>
              <a:t>Measurement is not verification.</a:t>
            </a:r>
          </a:p>
        </p:txBody>
      </p:sp>
      <p:sp>
        <p:nvSpPr>
          <p:cNvPr id="4" name="Rounded Rectangle 3"/>
          <p:cNvSpPr/>
          <p:nvPr/>
        </p:nvSpPr>
        <p:spPr>
          <a:xfrm>
            <a:off x="822960" y="2286000"/>
            <a:ext cx="5029200" cy="3017520"/>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2542032"/>
            <a:ext cx="448056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WHAT A VERIFIER RECEIVES TODAY</a:t>
            </a:r>
          </a:p>
        </p:txBody>
      </p:sp>
      <p:sp>
        <p:nvSpPr>
          <p:cNvPr id="6" name="TextBox 5"/>
          <p:cNvSpPr txBox="1"/>
          <p:nvPr/>
        </p:nvSpPr>
        <p:spPr>
          <a:xfrm>
            <a:off x="1115568" y="2944368"/>
            <a:ext cx="4480560" cy="2194560"/>
          </a:xfrm>
          <a:prstGeom prst="rect">
            <a:avLst/>
          </a:prstGeom>
          <a:noFill/>
        </p:spPr>
        <p:txBody>
          <a:bodyPr wrap="square" anchor="t" lIns="0" rIns="0" tIns="0" bIns="0">
            <a:spAutoFit/>
          </a:bodyPr>
          <a:lstStyle/>
          <a:p>
            <a:pPr>
              <a:lnSpc>
                <a:spcPct val="124000"/>
              </a:lnSpc>
              <a:spcAft>
                <a:spcPts val="700"/>
              </a:spcAft>
            </a:pPr>
            <a:r>
              <a:rPr sz="1300">
                <a:solidFill>
                  <a:srgbClr val="21544F"/>
                </a:solidFill>
                <a:latin typeface="Segoe UI"/>
              </a:rPr>
              <a:t>—  </a:t>
            </a:r>
            <a:r>
              <a:rPr sz="1300" b="0">
                <a:solidFill>
                  <a:srgbClr val="A7C3BE"/>
                </a:solidFill>
                <a:latin typeface="Segoe UI"/>
              </a:rPr>
              <a:t>A time series of pond readings, supplied by the operator.</a:t>
            </a:r>
          </a:p>
          <a:p>
            <a:pPr>
              <a:lnSpc>
                <a:spcPct val="124000"/>
              </a:lnSpc>
              <a:spcAft>
                <a:spcPts val="700"/>
              </a:spcAft>
            </a:pPr>
            <a:r>
              <a:rPr sz="1300">
                <a:solidFill>
                  <a:srgbClr val="21544F"/>
                </a:solidFill>
                <a:latin typeface="Segoe UI"/>
              </a:rPr>
              <a:t>—  </a:t>
            </a:r>
            <a:r>
              <a:rPr sz="1300" b="0">
                <a:solidFill>
                  <a:srgbClr val="A7C3BE"/>
                </a:solidFill>
                <a:latin typeface="Segoe UI"/>
              </a:rPr>
              <a:t>A conversion constant applied to it.</a:t>
            </a:r>
          </a:p>
          <a:p>
            <a:pPr>
              <a:lnSpc>
                <a:spcPct val="124000"/>
              </a:lnSpc>
              <a:spcAft>
                <a:spcPts val="700"/>
              </a:spcAft>
            </a:pPr>
            <a:r>
              <a:rPr sz="1300">
                <a:solidFill>
                  <a:srgbClr val="21544F"/>
                </a:solidFill>
                <a:latin typeface="Segoe UI"/>
              </a:rPr>
              <a:t>—  </a:t>
            </a:r>
            <a:r>
              <a:rPr sz="1300" b="0">
                <a:solidFill>
                  <a:srgbClr val="A7C3BE"/>
                </a:solidFill>
                <a:latin typeface="Segoe UI"/>
              </a:rPr>
              <a:t>A single number, with no second measurement to test it against.</a:t>
            </a:r>
          </a:p>
          <a:p>
            <a:pPr>
              <a:lnSpc>
                <a:spcPct val="124000"/>
              </a:lnSpc>
              <a:spcAft>
                <a:spcPts val="700"/>
              </a:spcAft>
            </a:pPr>
            <a:r>
              <a:rPr sz="1300">
                <a:solidFill>
                  <a:srgbClr val="21544F"/>
                </a:solidFill>
                <a:latin typeface="Segoe UI"/>
              </a:rPr>
              <a:t>—  </a:t>
            </a:r>
            <a:r>
              <a:rPr sz="1300" b="0">
                <a:solidFill>
                  <a:srgbClr val="A7C3BE"/>
                </a:solidFill>
                <a:latin typeface="Segoe UI"/>
              </a:rPr>
              <a:t>A site visit, if the credit is large enough to justify a flight.</a:t>
            </a:r>
          </a:p>
        </p:txBody>
      </p:sp>
      <p:sp>
        <p:nvSpPr>
          <p:cNvPr id="7" name="Rounded Rectangle 6"/>
          <p:cNvSpPr/>
          <p:nvPr/>
        </p:nvSpPr>
        <p:spPr>
          <a:xfrm>
            <a:off x="6345936" y="2286000"/>
            <a:ext cx="5029200" cy="3017520"/>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38544" y="2542032"/>
            <a:ext cx="448056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WHAT WOULD ACTUALLY SETTLE IT</a:t>
            </a:r>
          </a:p>
        </p:txBody>
      </p:sp>
      <p:sp>
        <p:nvSpPr>
          <p:cNvPr id="9" name="TextBox 8"/>
          <p:cNvSpPr txBox="1"/>
          <p:nvPr/>
        </p:nvSpPr>
        <p:spPr>
          <a:xfrm>
            <a:off x="6638544" y="2944368"/>
            <a:ext cx="4480560" cy="1828800"/>
          </a:xfrm>
          <a:prstGeom prst="rect">
            <a:avLst/>
          </a:prstGeom>
          <a:noFill/>
        </p:spPr>
        <p:txBody>
          <a:bodyPr wrap="square" anchor="t" lIns="0" rIns="0" tIns="0" bIns="0">
            <a:spAutoFit/>
          </a:bodyPr>
          <a:lstStyle/>
          <a:p>
            <a:pPr>
              <a:lnSpc>
                <a:spcPct val="124000"/>
              </a:lnSpc>
              <a:spcAft>
                <a:spcPts val="700"/>
              </a:spcAft>
            </a:pPr>
            <a:r>
              <a:rPr sz="1300">
                <a:solidFill>
                  <a:srgbClr val="2DD4BF"/>
                </a:solidFill>
                <a:latin typeface="Segoe UI"/>
              </a:rPr>
              <a:t>—  </a:t>
            </a:r>
            <a:r>
              <a:rPr sz="1300" b="0">
                <a:solidFill>
                  <a:srgbClr val="A7C3BE"/>
                </a:solidFill>
                <a:latin typeface="Segoe UI"/>
              </a:rPr>
              <a:t>A second measurement of </a:t>
            </a:r>
            <a:r>
              <a:rPr sz="1300" b="1">
                <a:solidFill>
                  <a:srgbClr val="EAF6F3"/>
                </a:solidFill>
                <a:latin typeface="Segoe UI"/>
              </a:rPr>
              <a:t>the same pond</a:t>
            </a:r>
            <a:r>
              <a:rPr sz="1300" b="0">
                <a:solidFill>
                  <a:srgbClr val="A7C3BE"/>
                </a:solidFill>
                <a:latin typeface="Segoe UI"/>
              </a:rPr>
              <a:t>, over </a:t>
            </a:r>
            <a:r>
              <a:rPr sz="1300" b="1">
                <a:solidFill>
                  <a:srgbClr val="EAF6F3"/>
                </a:solidFill>
                <a:latin typeface="Segoe UI"/>
              </a:rPr>
              <a:t>the same days</a:t>
            </a:r>
            <a:r>
              <a:rPr sz="1300" b="0">
                <a:solidFill>
                  <a:srgbClr val="A7C3BE"/>
                </a:solidFill>
                <a:latin typeface="Segoe UI"/>
              </a:rPr>
              <a:t>, from an instrument the operator does not own.</a:t>
            </a:r>
          </a:p>
          <a:p>
            <a:pPr>
              <a:lnSpc>
                <a:spcPct val="124000"/>
              </a:lnSpc>
              <a:spcAft>
                <a:spcPts val="700"/>
              </a:spcAft>
            </a:pPr>
            <a:r>
              <a:rPr sz="1300">
                <a:solidFill>
                  <a:srgbClr val="2DD4BF"/>
                </a:solidFill>
                <a:latin typeface="Segoe UI"/>
              </a:rPr>
              <a:t>—  </a:t>
            </a:r>
            <a:r>
              <a:rPr sz="1300" b="0">
                <a:solidFill>
                  <a:srgbClr val="A7C3BE"/>
                </a:solidFill>
                <a:latin typeface="Segoe UI"/>
              </a:rPr>
              <a:t>A stated rule for when the two disagree enough to matter.</a:t>
            </a:r>
          </a:p>
          <a:p>
            <a:pPr>
              <a:lnSpc>
                <a:spcPct val="124000"/>
              </a:lnSpc>
              <a:spcAft>
                <a:spcPts val="700"/>
              </a:spcAft>
            </a:pPr>
            <a:r>
              <a:rPr sz="1300">
                <a:solidFill>
                  <a:srgbClr val="2DD4BF"/>
                </a:solidFill>
                <a:latin typeface="Segoe UI"/>
              </a:rPr>
              <a:t>—  </a:t>
            </a:r>
            <a:r>
              <a:rPr sz="1300" b="0">
                <a:solidFill>
                  <a:srgbClr val="A7C3BE"/>
                </a:solidFill>
                <a:latin typeface="Segoe UI"/>
              </a:rPr>
              <a:t>A verdict a verifier can re-derive, not a dashboard to read.</a:t>
            </a:r>
          </a:p>
        </p:txBody>
      </p:sp>
      <p:sp>
        <p:nvSpPr>
          <p:cNvPr id="10" name="TextBox 9"/>
          <p:cNvSpPr txBox="1"/>
          <p:nvPr/>
        </p:nvSpPr>
        <p:spPr>
          <a:xfrm>
            <a:off x="6638544" y="4718304"/>
            <a:ext cx="4480560" cy="548640"/>
          </a:xfrm>
          <a:prstGeom prst="rect">
            <a:avLst/>
          </a:prstGeom>
          <a:noFill/>
        </p:spPr>
        <p:txBody>
          <a:bodyPr wrap="square" anchor="t" lIns="0" rIns="0" tIns="0" bIns="0">
            <a:spAutoFit/>
          </a:bodyPr>
          <a:lstStyle/>
          <a:p>
            <a:pPr algn="l">
              <a:lnSpc>
                <a:spcPct val="130000"/>
              </a:lnSpc>
              <a:spcBef>
                <a:spcPts val="0"/>
              </a:spcBef>
              <a:spcAft>
                <a:spcPts val="0"/>
              </a:spcAft>
            </a:pPr>
            <a:r>
              <a:rPr sz="1100" b="0" i="0">
                <a:solidFill>
                  <a:srgbClr val="7D9A95"/>
                </a:solidFill>
                <a:latin typeface="Segoe UI"/>
              </a:rPr>
              <a:t>That second instrument already exists, is free, and photographs every pond on Earth every five days.</a:t>
            </a:r>
          </a:p>
        </p:txBody>
      </p:sp>
      <p:sp>
        <p:nvSpPr>
          <p:cNvPr id="11" name="Rectangle 10"/>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6272784"/>
            <a:ext cx="3162909"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3 / 10</a:t>
            </a:r>
          </a:p>
        </p:txBody>
      </p:sp>
      <p:sp>
        <p:nvSpPr>
          <p:cNvPr id="14" name="TextBox 13"/>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Algae Carbon Monitoring  ·  Pixel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THE MECHANISM</a:t>
            </a:r>
          </a:p>
        </p:txBody>
      </p:sp>
      <p:sp>
        <p:nvSpPr>
          <p:cNvPr id="3" name="TextBox 2"/>
          <p:cNvSpPr txBox="1"/>
          <p:nvPr/>
        </p:nvSpPr>
        <p:spPr>
          <a:xfrm>
            <a:off x="822960" y="932688"/>
            <a:ext cx="7772400" cy="1371600"/>
          </a:xfrm>
          <a:prstGeom prst="rect">
            <a:avLst/>
          </a:prstGeom>
          <a:noFill/>
        </p:spPr>
        <p:txBody>
          <a:bodyPr wrap="square" anchor="t" lIns="0" rIns="0" tIns="0" bIns="0">
            <a:spAutoFit/>
          </a:bodyPr>
          <a:lstStyle/>
          <a:p>
            <a:pPr algn="l">
              <a:lnSpc>
                <a:spcPct val="110000"/>
              </a:lnSpc>
              <a:spcBef>
                <a:spcPts val="0"/>
              </a:spcBef>
              <a:spcAft>
                <a:spcPts val="0"/>
              </a:spcAft>
            </a:pPr>
            <a:r>
              <a:rPr sz="2900" b="0" i="0">
                <a:solidFill>
                  <a:srgbClr val="EAF6F3"/>
                </a:solidFill>
                <a:latin typeface="Georgia"/>
              </a:rPr>
              <a:t>Two records that share no input, compared by one rule.</a:t>
            </a:r>
          </a:p>
        </p:txBody>
      </p:sp>
      <p:sp>
        <p:nvSpPr>
          <p:cNvPr id="4" name="Rounded Rectangle 3"/>
          <p:cNvSpPr/>
          <p:nvPr/>
        </p:nvSpPr>
        <p:spPr>
          <a:xfrm>
            <a:off x="2103120" y="1975104"/>
            <a:ext cx="3017520" cy="768096"/>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03120" y="2103120"/>
            <a:ext cx="3017520" cy="310896"/>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5AAEFF"/>
                </a:solidFill>
                <a:latin typeface="Segoe UI"/>
              </a:rPr>
              <a:t>Pond sensors</a:t>
            </a:r>
          </a:p>
        </p:txBody>
      </p:sp>
      <p:sp>
        <p:nvSpPr>
          <p:cNvPr id="6" name="TextBox 5"/>
          <p:cNvSpPr txBox="1"/>
          <p:nvPr/>
        </p:nvSpPr>
        <p:spPr>
          <a:xfrm>
            <a:off x="2103120" y="2395728"/>
            <a:ext cx="3017520" cy="274320"/>
          </a:xfrm>
          <a:prstGeom prst="rect">
            <a:avLst/>
          </a:prstGeom>
          <a:noFill/>
        </p:spPr>
        <p:txBody>
          <a:bodyPr wrap="square" anchor="t" lIns="0" rIns="0" tIns="0" bIns="0">
            <a:spAutoFit/>
          </a:bodyPr>
          <a:lstStyle/>
          <a:p>
            <a:pPr algn="ctr">
              <a:lnSpc>
                <a:spcPct val="100000"/>
              </a:lnSpc>
              <a:spcBef>
                <a:spcPts val="0"/>
              </a:spcBef>
              <a:spcAft>
                <a:spcPts val="0"/>
              </a:spcAft>
            </a:pPr>
            <a:r>
              <a:rPr sz="1000" b="0" i="0">
                <a:solidFill>
                  <a:srgbClr val="7D9A95"/>
                </a:solidFill>
                <a:latin typeface="Segoe UI"/>
              </a:rPr>
              <a:t>hourly  ·  simulated</a:t>
            </a:r>
          </a:p>
        </p:txBody>
      </p:sp>
      <p:sp>
        <p:nvSpPr>
          <p:cNvPr id="7" name="Rounded Rectangle 6"/>
          <p:cNvSpPr/>
          <p:nvPr/>
        </p:nvSpPr>
        <p:spPr>
          <a:xfrm>
            <a:off x="7040880" y="1975104"/>
            <a:ext cx="3017520" cy="768096"/>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2103120"/>
            <a:ext cx="3017520" cy="310896"/>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FF9152"/>
                </a:solidFill>
                <a:latin typeface="Segoe UI"/>
              </a:rPr>
              <a:t>Sentinel-2</a:t>
            </a:r>
          </a:p>
        </p:txBody>
      </p:sp>
      <p:sp>
        <p:nvSpPr>
          <p:cNvPr id="9" name="TextBox 8"/>
          <p:cNvSpPr txBox="1"/>
          <p:nvPr/>
        </p:nvSpPr>
        <p:spPr>
          <a:xfrm>
            <a:off x="7040880" y="2395728"/>
            <a:ext cx="3017520" cy="274320"/>
          </a:xfrm>
          <a:prstGeom prst="rect">
            <a:avLst/>
          </a:prstGeom>
          <a:noFill/>
        </p:spPr>
        <p:txBody>
          <a:bodyPr wrap="square" anchor="t" lIns="0" rIns="0" tIns="0" bIns="0">
            <a:spAutoFit/>
          </a:bodyPr>
          <a:lstStyle/>
          <a:p>
            <a:pPr algn="ctr">
              <a:lnSpc>
                <a:spcPct val="100000"/>
              </a:lnSpc>
              <a:spcBef>
                <a:spcPts val="0"/>
              </a:spcBef>
              <a:spcAft>
                <a:spcPts val="0"/>
              </a:spcAft>
            </a:pPr>
            <a:r>
              <a:rPr sz="1000" b="0" i="0">
                <a:solidFill>
                  <a:srgbClr val="7D9A95"/>
                </a:solidFill>
                <a:latin typeface="Segoe UI"/>
              </a:rPr>
              <a:t>real imagery  ·  cached</a:t>
            </a:r>
          </a:p>
        </p:txBody>
      </p:sp>
      <p:sp>
        <p:nvSpPr>
          <p:cNvPr id="10" name="Rounded Rectangle 9"/>
          <p:cNvSpPr/>
          <p:nvPr/>
        </p:nvSpPr>
        <p:spPr>
          <a:xfrm>
            <a:off x="2103120" y="3310128"/>
            <a:ext cx="3017520" cy="768096"/>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3438144"/>
            <a:ext cx="3017520" cy="310896"/>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EAF6F3"/>
                </a:solidFill>
                <a:latin typeface="Segoe UI"/>
              </a:rPr>
              <a:t>CO₂ engine</a:t>
            </a:r>
          </a:p>
        </p:txBody>
      </p:sp>
      <p:sp>
        <p:nvSpPr>
          <p:cNvPr id="12" name="TextBox 11"/>
          <p:cNvSpPr txBox="1"/>
          <p:nvPr/>
        </p:nvSpPr>
        <p:spPr>
          <a:xfrm>
            <a:off x="2103120" y="3730752"/>
            <a:ext cx="3017520" cy="274320"/>
          </a:xfrm>
          <a:prstGeom prst="rect">
            <a:avLst/>
          </a:prstGeom>
          <a:noFill/>
        </p:spPr>
        <p:txBody>
          <a:bodyPr wrap="square" anchor="t" lIns="0" rIns="0" tIns="0" bIns="0">
            <a:spAutoFit/>
          </a:bodyPr>
          <a:lstStyle/>
          <a:p>
            <a:pPr algn="ctr">
              <a:lnSpc>
                <a:spcPct val="100000"/>
              </a:lnSpc>
              <a:spcBef>
                <a:spcPts val="0"/>
              </a:spcBef>
              <a:spcAft>
                <a:spcPts val="0"/>
              </a:spcAft>
            </a:pPr>
            <a:r>
              <a:rPr sz="1000" b="0" i="0">
                <a:solidFill>
                  <a:srgbClr val="7D9A95"/>
                </a:solidFill>
                <a:latin typeface="Segoe UI"/>
              </a:rPr>
              <a:t>× 1.8321 kg CO₂ / kg</a:t>
            </a:r>
          </a:p>
        </p:txBody>
      </p:sp>
      <p:sp>
        <p:nvSpPr>
          <p:cNvPr id="13" name="Rounded Rectangle 12"/>
          <p:cNvSpPr/>
          <p:nvPr/>
        </p:nvSpPr>
        <p:spPr>
          <a:xfrm>
            <a:off x="7040880" y="3310128"/>
            <a:ext cx="3017520" cy="768096"/>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3438144"/>
            <a:ext cx="3017520" cy="310896"/>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EAF6F3"/>
                </a:solidFill>
                <a:latin typeface="Segoe UI"/>
              </a:rPr>
              <a:t>Imagery index</a:t>
            </a:r>
          </a:p>
        </p:txBody>
      </p:sp>
      <p:sp>
        <p:nvSpPr>
          <p:cNvPr id="15" name="TextBox 14"/>
          <p:cNvSpPr txBox="1"/>
          <p:nvPr/>
        </p:nvSpPr>
        <p:spPr>
          <a:xfrm>
            <a:off x="7040880" y="3730752"/>
            <a:ext cx="3017520" cy="274320"/>
          </a:xfrm>
          <a:prstGeom prst="rect">
            <a:avLst/>
          </a:prstGeom>
          <a:noFill/>
        </p:spPr>
        <p:txBody>
          <a:bodyPr wrap="square" anchor="t" lIns="0" rIns="0" tIns="0" bIns="0">
            <a:spAutoFit/>
          </a:bodyPr>
          <a:lstStyle/>
          <a:p>
            <a:pPr algn="ctr">
              <a:lnSpc>
                <a:spcPct val="100000"/>
              </a:lnSpc>
              <a:spcBef>
                <a:spcPts val="0"/>
              </a:spcBef>
              <a:spcAft>
                <a:spcPts val="0"/>
              </a:spcAft>
            </a:pPr>
            <a:r>
              <a:rPr sz="1000" b="0" i="0">
                <a:solidFill>
                  <a:srgbClr val="7D9A95"/>
                </a:solidFill>
                <a:latin typeface="Segoe UI"/>
              </a:rPr>
              <a:t>NDCI, per block per date</a:t>
            </a:r>
          </a:p>
        </p:txBody>
      </p:sp>
      <p:sp>
        <p:nvSpPr>
          <p:cNvPr id="16" name="Rectangle 15"/>
          <p:cNvSpPr/>
          <p:nvPr/>
        </p:nvSpPr>
        <p:spPr>
          <a:xfrm>
            <a:off x="3611880" y="2743200"/>
            <a:ext cx="15875" cy="457200"/>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3570732" y="3191256"/>
            <a:ext cx="100584" cy="100584"/>
          </a:xfrm>
          <a:prstGeom prst="triangle">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49640" y="2743200"/>
            <a:ext cx="15875" cy="457200"/>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8508492" y="3191256"/>
            <a:ext cx="100584" cy="100584"/>
          </a:xfrm>
          <a:prstGeom prst="triangle">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12463" y="2798064"/>
            <a:ext cx="17373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Segoe UI"/>
              </a:rPr>
              <a:t>biomass density</a:t>
            </a:r>
          </a:p>
        </p:txBody>
      </p:sp>
      <p:sp>
        <p:nvSpPr>
          <p:cNvPr id="21" name="TextBox 20"/>
          <p:cNvSpPr txBox="1"/>
          <p:nvPr/>
        </p:nvSpPr>
        <p:spPr>
          <a:xfrm>
            <a:off x="8650224" y="2798064"/>
            <a:ext cx="146304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Segoe UI"/>
              </a:rPr>
              <a:t>chlorophyll</a:t>
            </a:r>
          </a:p>
        </p:txBody>
      </p:sp>
      <p:sp>
        <p:nvSpPr>
          <p:cNvPr id="22" name="Rectangle 21"/>
          <p:cNvSpPr/>
          <p:nvPr/>
        </p:nvSpPr>
        <p:spPr>
          <a:xfrm>
            <a:off x="3611880" y="4078224"/>
            <a:ext cx="15875" cy="32918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11880" y="4407408"/>
            <a:ext cx="1828800" cy="15875"/>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40680" y="4407408"/>
            <a:ext cx="15875" cy="292607"/>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399532" y="4690872"/>
            <a:ext cx="100584" cy="100584"/>
          </a:xfrm>
          <a:prstGeom prst="triangl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549640" y="4078224"/>
            <a:ext cx="15875" cy="32918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748272" y="4407408"/>
            <a:ext cx="1801367" cy="15875"/>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748272" y="4407408"/>
            <a:ext cx="15875" cy="292607"/>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6707124" y="4690872"/>
            <a:ext cx="100584" cy="100584"/>
          </a:xfrm>
          <a:prstGeom prst="triangl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0" y="4114800"/>
            <a:ext cx="3044952" cy="274320"/>
          </a:xfrm>
          <a:prstGeom prst="rect">
            <a:avLst/>
          </a:prstGeom>
          <a:noFill/>
        </p:spPr>
        <p:txBody>
          <a:bodyPr wrap="square" anchor="t" lIns="0" rIns="0" tIns="0" bIns="0">
            <a:spAutoFit/>
          </a:bodyPr>
          <a:lstStyle/>
          <a:p>
            <a:pPr algn="ctr">
              <a:lnSpc>
                <a:spcPct val="100000"/>
              </a:lnSpc>
              <a:spcBef>
                <a:spcPts val="0"/>
              </a:spcBef>
              <a:spcAft>
                <a:spcPts val="0"/>
              </a:spcAft>
            </a:pPr>
            <a:r>
              <a:rPr sz="950" b="0" i="0">
                <a:solidFill>
                  <a:srgbClr val="2DD4BF"/>
                </a:solidFill>
                <a:latin typeface="Segoe UI"/>
              </a:rPr>
              <a:t>both normalised to 100 at day 0</a:t>
            </a:r>
          </a:p>
        </p:txBody>
      </p:sp>
      <p:sp>
        <p:nvSpPr>
          <p:cNvPr id="31" name="Rounded Rectangle 30"/>
          <p:cNvSpPr/>
          <p:nvPr/>
        </p:nvSpPr>
        <p:spPr>
          <a:xfrm>
            <a:off x="4590288" y="4809744"/>
            <a:ext cx="3017520" cy="786384"/>
          </a:xfrm>
          <a:prstGeom prst="roundRect">
            <a:avLst>
              <a:gd name="adj" fmla="val 2500"/>
            </a:avLst>
          </a:prstGeom>
          <a:solidFill>
            <a:srgbClr val="112A3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90288" y="4937759"/>
            <a:ext cx="3017520" cy="310896"/>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2DD4BF"/>
                </a:solidFill>
                <a:latin typeface="Consolas"/>
              </a:rPr>
              <a:t>RULE-001</a:t>
            </a:r>
          </a:p>
        </p:txBody>
      </p:sp>
      <p:sp>
        <p:nvSpPr>
          <p:cNvPr id="33" name="TextBox 32"/>
          <p:cNvSpPr txBox="1"/>
          <p:nvPr/>
        </p:nvSpPr>
        <p:spPr>
          <a:xfrm>
            <a:off x="4590288" y="5230368"/>
            <a:ext cx="3017520" cy="274320"/>
          </a:xfrm>
          <a:prstGeom prst="rect">
            <a:avLst/>
          </a:prstGeom>
          <a:noFill/>
        </p:spPr>
        <p:txBody>
          <a:bodyPr wrap="square" anchor="t" lIns="0" rIns="0" tIns="0" bIns="0">
            <a:spAutoFit/>
          </a:bodyPr>
          <a:lstStyle/>
          <a:p>
            <a:pPr algn="ctr">
              <a:lnSpc>
                <a:spcPct val="100000"/>
              </a:lnSpc>
              <a:spcBef>
                <a:spcPts val="0"/>
              </a:spcBef>
              <a:spcAft>
                <a:spcPts val="0"/>
              </a:spcAft>
            </a:pPr>
            <a:r>
              <a:rPr sz="1000" b="0" i="0">
                <a:solidFill>
                  <a:srgbClr val="A7C3BE"/>
                </a:solidFill>
                <a:latin typeface="Segoe UI"/>
              </a:rPr>
              <a:t>14-day rolling window  ·  ±15%</a:t>
            </a:r>
          </a:p>
        </p:txBody>
      </p:sp>
      <p:sp>
        <p:nvSpPr>
          <p:cNvPr id="34" name="Rectangle 33"/>
          <p:cNvSpPr/>
          <p:nvPr/>
        </p:nvSpPr>
        <p:spPr>
          <a:xfrm>
            <a:off x="6089904" y="5596128"/>
            <a:ext cx="15875" cy="128015"/>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931920" y="5724144"/>
            <a:ext cx="4315968" cy="15875"/>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31920" y="5724144"/>
            <a:ext cx="15875" cy="82295"/>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3890772" y="5806440"/>
            <a:ext cx="100584" cy="100584"/>
          </a:xfrm>
          <a:prstGeom prst="triangle">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47888" y="5724144"/>
            <a:ext cx="15875" cy="82295"/>
          </a:xfrm>
          <a:prstGeom prst="rect">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8206740" y="5806440"/>
            <a:ext cx="100584" cy="100584"/>
          </a:xfrm>
          <a:prstGeom prst="triangle">
            <a:avLst/>
          </a:prstGeom>
          <a:solidFill>
            <a:srgbClr val="215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3346704" y="5943600"/>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41" name="Rounded Rectangle 40"/>
          <p:cNvSpPr/>
          <p:nvPr/>
        </p:nvSpPr>
        <p:spPr>
          <a:xfrm>
            <a:off x="7552944" y="5943600"/>
            <a:ext cx="1389888" cy="256032"/>
          </a:xfrm>
          <a:prstGeom prst="roundRect">
            <a:avLst>
              <a:gd name="adj" fmla="val 22000"/>
            </a:avLst>
          </a:prstGeom>
          <a:solidFill>
            <a:srgbClr val="2E260E"/>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FBBF24"/>
                </a:solidFill>
                <a:latin typeface="Segoe UI"/>
              </a:rPr>
              <a:t>Needs review</a:t>
            </a:r>
          </a:p>
        </p:txBody>
      </p:sp>
      <p:sp>
        <p:nvSpPr>
          <p:cNvPr id="42" name="Rectangle 41"/>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2960" y="6272784"/>
            <a:ext cx="4217212"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4 / 10</a:t>
            </a:r>
          </a:p>
        </p:txBody>
      </p:sp>
      <p:sp>
        <p:nvSpPr>
          <p:cNvPr id="45" name="TextBox 44"/>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Algae Carbon Monitoring  ·  Pixel Error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IN PRACTICE</a:t>
            </a:r>
          </a:p>
        </p:txBody>
      </p:sp>
      <p:sp>
        <p:nvSpPr>
          <p:cNvPr id="3" name="TextBox 2"/>
          <p:cNvSpPr txBox="1"/>
          <p:nvPr/>
        </p:nvSpPr>
        <p:spPr>
          <a:xfrm>
            <a:off x="822960" y="932688"/>
            <a:ext cx="9144000" cy="1371600"/>
          </a:xfrm>
          <a:prstGeom prst="rect">
            <a:avLst/>
          </a:prstGeom>
          <a:noFill/>
        </p:spPr>
        <p:txBody>
          <a:bodyPr wrap="square" anchor="t" lIns="0" rIns="0" tIns="0" bIns="0">
            <a:spAutoFit/>
          </a:bodyPr>
          <a:lstStyle/>
          <a:p>
            <a:pPr algn="l">
              <a:lnSpc>
                <a:spcPct val="110000"/>
              </a:lnSpc>
              <a:spcBef>
                <a:spcPts val="0"/>
              </a:spcBef>
              <a:spcAft>
                <a:spcPts val="0"/>
              </a:spcAft>
            </a:pPr>
            <a:r>
              <a:rPr sz="3100" b="0" i="0">
                <a:solidFill>
                  <a:srgbClr val="EAF6F3"/>
                </a:solidFill>
                <a:latin typeface="Georgia"/>
              </a:rPr>
              <a:t>Same rule, same window, two different answers.</a:t>
            </a:r>
          </a:p>
        </p:txBody>
      </p:sp>
      <p:sp>
        <p:nvSpPr>
          <p:cNvPr id="4" name="TextBox 3"/>
          <p:cNvSpPr txBox="1"/>
          <p:nvPr/>
        </p:nvSpPr>
        <p:spPr>
          <a:xfrm>
            <a:off x="822960" y="2029968"/>
            <a:ext cx="10515600" cy="274320"/>
          </a:xfrm>
          <a:prstGeom prst="rect">
            <a:avLst/>
          </a:prstGeom>
          <a:noFill/>
        </p:spPr>
        <p:txBody>
          <a:bodyPr wrap="square" anchor="t" lIns="0" rIns="0" tIns="0" bIns="0">
            <a:spAutoFit/>
          </a:bodyPr>
          <a:lstStyle/>
          <a:p>
            <a:pPr algn="l">
              <a:lnSpc>
                <a:spcPct val="122000"/>
              </a:lnSpc>
              <a:spcBef>
                <a:spcPts val="0"/>
              </a:spcBef>
            </a:pPr>
            <a:r>
              <a:rPr sz="1200" b="1" i="0">
                <a:solidFill>
                  <a:srgbClr val="5AAEFF"/>
                </a:solidFill>
                <a:latin typeface="Segoe UI"/>
              </a:rPr>
              <a:t>—— </a:t>
            </a:r>
            <a:r>
              <a:rPr sz="1200" b="0" i="0">
                <a:solidFill>
                  <a:srgbClr val="A7C3BE"/>
                </a:solidFill>
                <a:latin typeface="Segoe UI"/>
              </a:rPr>
              <a:t>sensor-reported biomass       </a:t>
            </a:r>
            <a:r>
              <a:rPr sz="1200" b="1" i="0">
                <a:solidFill>
                  <a:srgbClr val="FF9152"/>
                </a:solidFill>
                <a:latin typeface="Segoe UI"/>
              </a:rPr>
              <a:t>- - - </a:t>
            </a:r>
            <a:r>
              <a:rPr sz="1200" b="0" i="0">
                <a:solidFill>
                  <a:srgbClr val="A7C3BE"/>
                </a:solidFill>
                <a:latin typeface="Segoe UI"/>
              </a:rPr>
              <a:t>satellite chlorophyll index       </a:t>
            </a:r>
            <a:r>
              <a:rPr sz="1100" b="0" i="0">
                <a:solidFill>
                  <a:srgbClr val="7D9A95"/>
                </a:solidFill>
                <a:latin typeface="Consolas"/>
              </a:rPr>
              <a:t>both indexed to 100  ·  28 compared days</a:t>
            </a:r>
          </a:p>
        </p:txBody>
      </p:sp>
      <p:sp>
        <p:nvSpPr>
          <p:cNvPr id="5" name="TextBox 4"/>
          <p:cNvSpPr txBox="1"/>
          <p:nvPr/>
        </p:nvSpPr>
        <p:spPr>
          <a:xfrm>
            <a:off x="822960" y="2487168"/>
            <a:ext cx="2926080" cy="329184"/>
          </a:xfrm>
          <a:prstGeom prst="rect">
            <a:avLst/>
          </a:prstGeom>
          <a:noFill/>
        </p:spPr>
        <p:txBody>
          <a:bodyPr wrap="square" anchor="t" lIns="0" rIns="0" tIns="0" bIns="0">
            <a:spAutoFit/>
          </a:bodyPr>
          <a:lstStyle/>
          <a:p>
            <a:pPr algn="l">
              <a:lnSpc>
                <a:spcPct val="100000"/>
              </a:lnSpc>
              <a:spcBef>
                <a:spcPts val="0"/>
              </a:spcBef>
              <a:spcAft>
                <a:spcPts val="0"/>
              </a:spcAft>
            </a:pPr>
            <a:r>
              <a:rPr sz="1500" b="0" i="0">
                <a:solidFill>
                  <a:srgbClr val="EAF6F3"/>
                </a:solidFill>
                <a:latin typeface="Georgia"/>
              </a:rPr>
              <a:t>Earthrise Block A</a:t>
            </a:r>
          </a:p>
        </p:txBody>
      </p:sp>
      <p:sp>
        <p:nvSpPr>
          <p:cNvPr id="6" name="Rounded Rectangle 5"/>
          <p:cNvSpPr/>
          <p:nvPr/>
        </p:nvSpPr>
        <p:spPr>
          <a:xfrm>
            <a:off x="4334256" y="2523744"/>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7" name="Rectangle 6"/>
          <p:cNvSpPr/>
          <p:nvPr/>
        </p:nvSpPr>
        <p:spPr>
          <a:xfrm>
            <a:off x="1280160" y="4729941"/>
            <a:ext cx="4224527"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4638501"/>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100</a:t>
            </a:r>
          </a:p>
        </p:txBody>
      </p:sp>
      <p:sp>
        <p:nvSpPr>
          <p:cNvPr id="9" name="Rectangle 8"/>
          <p:cNvSpPr/>
          <p:nvPr/>
        </p:nvSpPr>
        <p:spPr>
          <a:xfrm>
            <a:off x="1280160" y="4044973"/>
            <a:ext cx="4224527"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3953533"/>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120</a:t>
            </a:r>
          </a:p>
        </p:txBody>
      </p:sp>
      <p:sp>
        <p:nvSpPr>
          <p:cNvPr id="11" name="Rectangle 10"/>
          <p:cNvSpPr/>
          <p:nvPr/>
        </p:nvSpPr>
        <p:spPr>
          <a:xfrm>
            <a:off x="1280160" y="3360004"/>
            <a:ext cx="4224527"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268564"/>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140</a:t>
            </a:r>
          </a:p>
        </p:txBody>
      </p:sp>
      <p:sp>
        <p:nvSpPr>
          <p:cNvPr id="13" name="Freeform 12"/>
          <p:cNvSpPr/>
          <p:nvPr/>
        </p:nvSpPr>
        <p:spPr>
          <a:xfrm>
            <a:off x="1280160" y="4476503"/>
            <a:ext cx="4224528" cy="328785"/>
          </a:xfrm>
          <a:custGeom>
            <a:avLst/>
            <a:gdLst/>
            <a:ahLst/>
            <a:cxnLst/>
            <a:rect l="l" t="t" r="r" b="b"/>
            <a:pathLst>
              <a:path w="4224528" h="328785">
                <a:moveTo>
                  <a:pt x="0" y="253438"/>
                </a:moveTo>
                <a:lnTo>
                  <a:pt x="156464" y="280837"/>
                </a:lnTo>
                <a:lnTo>
                  <a:pt x="312928" y="308236"/>
                </a:lnTo>
                <a:lnTo>
                  <a:pt x="469391" y="311661"/>
                </a:lnTo>
                <a:lnTo>
                  <a:pt x="625856" y="311661"/>
                </a:lnTo>
                <a:lnTo>
                  <a:pt x="782320" y="304811"/>
                </a:lnTo>
                <a:lnTo>
                  <a:pt x="938784" y="287687"/>
                </a:lnTo>
                <a:lnTo>
                  <a:pt x="1095248" y="270563"/>
                </a:lnTo>
                <a:lnTo>
                  <a:pt x="1251712" y="267138"/>
                </a:lnTo>
                <a:lnTo>
                  <a:pt x="1408176" y="287687"/>
                </a:lnTo>
                <a:lnTo>
                  <a:pt x="1564640" y="304811"/>
                </a:lnTo>
                <a:lnTo>
                  <a:pt x="1721103" y="321935"/>
                </a:lnTo>
                <a:lnTo>
                  <a:pt x="1877568" y="328785"/>
                </a:lnTo>
                <a:lnTo>
                  <a:pt x="2034032" y="318510"/>
                </a:lnTo>
                <a:lnTo>
                  <a:pt x="2190496" y="297961"/>
                </a:lnTo>
                <a:lnTo>
                  <a:pt x="2346959" y="263713"/>
                </a:lnTo>
                <a:lnTo>
                  <a:pt x="2503424" y="219190"/>
                </a:lnTo>
                <a:lnTo>
                  <a:pt x="2659888" y="178092"/>
                </a:lnTo>
                <a:lnTo>
                  <a:pt x="2816352" y="150693"/>
                </a:lnTo>
                <a:lnTo>
                  <a:pt x="2972816" y="130144"/>
                </a:lnTo>
                <a:lnTo>
                  <a:pt x="3129280" y="119869"/>
                </a:lnTo>
                <a:lnTo>
                  <a:pt x="3285744" y="123294"/>
                </a:lnTo>
                <a:lnTo>
                  <a:pt x="3442208" y="109595"/>
                </a:lnTo>
                <a:lnTo>
                  <a:pt x="3598672" y="75346"/>
                </a:lnTo>
                <a:lnTo>
                  <a:pt x="3755135" y="51373"/>
                </a:lnTo>
                <a:lnTo>
                  <a:pt x="3911599" y="27399"/>
                </a:lnTo>
                <a:lnTo>
                  <a:pt x="4068063" y="13699"/>
                </a:lnTo>
                <a:lnTo>
                  <a:pt x="4224528" y="0"/>
                </a:lnTo>
              </a:path>
            </a:pathLst>
          </a:custGeom>
          <a:noFill/>
          <a:ln w="22225">
            <a:solidFill>
              <a:srgbClr val="FF91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280160" y="4308686"/>
            <a:ext cx="4224528" cy="421255"/>
          </a:xfrm>
          <a:custGeom>
            <a:avLst/>
            <a:gdLst/>
            <a:ahLst/>
            <a:cxnLst/>
            <a:rect l="l" t="t" r="r" b="b"/>
            <a:pathLst>
              <a:path w="4224528" h="421255">
                <a:moveTo>
                  <a:pt x="0" y="421255"/>
                </a:moveTo>
                <a:lnTo>
                  <a:pt x="156464" y="352758"/>
                </a:lnTo>
                <a:lnTo>
                  <a:pt x="312928" y="284262"/>
                </a:lnTo>
                <a:lnTo>
                  <a:pt x="469391" y="222614"/>
                </a:lnTo>
                <a:lnTo>
                  <a:pt x="625856" y="164392"/>
                </a:lnTo>
                <a:lnTo>
                  <a:pt x="782320" y="106170"/>
                </a:lnTo>
                <a:lnTo>
                  <a:pt x="938784" y="54797"/>
                </a:lnTo>
                <a:lnTo>
                  <a:pt x="1095248" y="10274"/>
                </a:lnTo>
                <a:lnTo>
                  <a:pt x="1251712" y="34248"/>
                </a:lnTo>
                <a:lnTo>
                  <a:pt x="1408176" y="95895"/>
                </a:lnTo>
                <a:lnTo>
                  <a:pt x="1564640" y="157542"/>
                </a:lnTo>
                <a:lnTo>
                  <a:pt x="1721103" y="212340"/>
                </a:lnTo>
                <a:lnTo>
                  <a:pt x="1877568" y="198640"/>
                </a:lnTo>
                <a:lnTo>
                  <a:pt x="2034032" y="143843"/>
                </a:lnTo>
                <a:lnTo>
                  <a:pt x="2190496" y="92470"/>
                </a:lnTo>
                <a:lnTo>
                  <a:pt x="2346959" y="44523"/>
                </a:lnTo>
                <a:lnTo>
                  <a:pt x="2503424" y="0"/>
                </a:lnTo>
                <a:lnTo>
                  <a:pt x="2659888" y="23973"/>
                </a:lnTo>
                <a:lnTo>
                  <a:pt x="2816352" y="85621"/>
                </a:lnTo>
                <a:lnTo>
                  <a:pt x="2972816" y="143843"/>
                </a:lnTo>
                <a:lnTo>
                  <a:pt x="3129280" y="195216"/>
                </a:lnTo>
                <a:lnTo>
                  <a:pt x="3285744" y="243163"/>
                </a:lnTo>
                <a:lnTo>
                  <a:pt x="3442208" y="222614"/>
                </a:lnTo>
                <a:lnTo>
                  <a:pt x="3598672" y="160967"/>
                </a:lnTo>
                <a:lnTo>
                  <a:pt x="3755135" y="102745"/>
                </a:lnTo>
                <a:lnTo>
                  <a:pt x="3911599" y="51372"/>
                </a:lnTo>
                <a:lnTo>
                  <a:pt x="4068063" y="61647"/>
                </a:lnTo>
                <a:lnTo>
                  <a:pt x="4224528" y="119869"/>
                </a:lnTo>
              </a:path>
            </a:pathLst>
          </a:custGeom>
          <a:noFill/>
          <a:ln w="28575">
            <a:solidFill>
              <a:srgbClr val="5AA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58968" y="4382835"/>
            <a:ext cx="91440" cy="91440"/>
          </a:xfrm>
          <a:prstGeom prst="ellipse">
            <a:avLst/>
          </a:prstGeom>
          <a:solidFill>
            <a:srgbClr val="5A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458968" y="4430783"/>
            <a:ext cx="91440" cy="91440"/>
          </a:xfrm>
          <a:prstGeom prst="ellipse">
            <a:avLst/>
          </a:prstGeom>
          <a:solidFill>
            <a:srgbClr val="FF9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80160" y="4974336"/>
            <a:ext cx="4224528" cy="219456"/>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7D9A95"/>
                </a:solidFill>
                <a:latin typeface="Consolas"/>
              </a:rPr>
              <a:t>15 Aug</a:t>
            </a:r>
          </a:p>
        </p:txBody>
      </p:sp>
      <p:sp>
        <p:nvSpPr>
          <p:cNvPr id="18" name="TextBox 17"/>
          <p:cNvSpPr txBox="1"/>
          <p:nvPr/>
        </p:nvSpPr>
        <p:spPr>
          <a:xfrm>
            <a:off x="1280160" y="4974336"/>
            <a:ext cx="422452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11 Sep</a:t>
            </a:r>
          </a:p>
        </p:txBody>
      </p:sp>
      <p:sp>
        <p:nvSpPr>
          <p:cNvPr id="19" name="TextBox 18"/>
          <p:cNvSpPr txBox="1"/>
          <p:nvPr/>
        </p:nvSpPr>
        <p:spPr>
          <a:xfrm>
            <a:off x="822960" y="5321807"/>
            <a:ext cx="4681728" cy="822960"/>
          </a:xfrm>
          <a:prstGeom prst="rect">
            <a:avLst/>
          </a:prstGeom>
          <a:noFill/>
        </p:spPr>
        <p:txBody>
          <a:bodyPr wrap="square" anchor="t" lIns="0" rIns="0" tIns="0" bIns="0">
            <a:spAutoFit/>
          </a:bodyPr>
          <a:lstStyle/>
          <a:p>
            <a:pPr algn="l">
              <a:lnSpc>
                <a:spcPct val="132000"/>
              </a:lnSpc>
              <a:spcBef>
                <a:spcPts val="0"/>
              </a:spcBef>
            </a:pPr>
            <a:r>
              <a:rPr sz="1150" b="0" i="0">
                <a:solidFill>
                  <a:srgbClr val="A7C3BE"/>
                </a:solidFill>
                <a:latin typeface="Segoe UI"/>
              </a:rPr>
              <a:t>Peak divergence </a:t>
            </a:r>
            <a:r>
              <a:rPr sz="1150" b="1" i="0">
                <a:solidFill>
                  <a:srgbClr val="EAF6F3"/>
                </a:solidFill>
                <a:latin typeface="Consolas"/>
              </a:rPr>
              <a:t>+12.6%</a:t>
            </a:r>
            <a:r>
              <a:rPr sz="1150" b="0" i="0">
                <a:solidFill>
                  <a:srgbClr val="A7C3BE"/>
                </a:solidFill>
                <a:latin typeface="Segoe UI"/>
              </a:rPr>
              <a:t> against a </a:t>
            </a:r>
            <a:r>
              <a:rPr sz="1150" b="1" i="0">
                <a:solidFill>
                  <a:srgbClr val="EAF6F3"/>
                </a:solidFill>
                <a:latin typeface="Consolas"/>
              </a:rPr>
              <a:t>15%</a:t>
            </a:r>
            <a:r>
              <a:rPr sz="1150" b="0" i="0">
                <a:solidFill>
                  <a:srgbClr val="A7C3BE"/>
                </a:solidFill>
                <a:latin typeface="Segoe UI"/>
              </a:rPr>
              <a:t> tolerance, currently </a:t>
            </a:r>
            <a:r>
              <a:rPr sz="1150" b="0" i="0">
                <a:solidFill>
                  <a:srgbClr val="A7C3BE"/>
                </a:solidFill>
                <a:latin typeface="Consolas"/>
              </a:rPr>
              <a:t>+1.4%</a:t>
            </a:r>
            <a:r>
              <a:rPr sz="1150" b="0" i="0">
                <a:solidFill>
                  <a:srgbClr val="A7C3BE"/>
                </a:solidFill>
                <a:latin typeface="Segoe UI"/>
              </a:rPr>
              <a:t>. No sustained disagreement, so the figure is publishable.</a:t>
            </a:r>
          </a:p>
        </p:txBody>
      </p:sp>
      <p:sp>
        <p:nvSpPr>
          <p:cNvPr id="20" name="TextBox 19"/>
          <p:cNvSpPr txBox="1"/>
          <p:nvPr/>
        </p:nvSpPr>
        <p:spPr>
          <a:xfrm>
            <a:off x="6455664" y="2487168"/>
            <a:ext cx="2926080" cy="329184"/>
          </a:xfrm>
          <a:prstGeom prst="rect">
            <a:avLst/>
          </a:prstGeom>
          <a:noFill/>
        </p:spPr>
        <p:txBody>
          <a:bodyPr wrap="square" anchor="t" lIns="0" rIns="0" tIns="0" bIns="0">
            <a:spAutoFit/>
          </a:bodyPr>
          <a:lstStyle/>
          <a:p>
            <a:pPr algn="l">
              <a:lnSpc>
                <a:spcPct val="100000"/>
              </a:lnSpc>
              <a:spcBef>
                <a:spcPts val="0"/>
              </a:spcBef>
              <a:spcAft>
                <a:spcPts val="0"/>
              </a:spcAft>
            </a:pPr>
            <a:r>
              <a:rPr sz="1500" b="0" i="0">
                <a:solidFill>
                  <a:srgbClr val="EAF6F3"/>
                </a:solidFill>
                <a:latin typeface="Georgia"/>
              </a:rPr>
              <a:t>Cyanotech Block A</a:t>
            </a:r>
          </a:p>
        </p:txBody>
      </p:sp>
      <p:sp>
        <p:nvSpPr>
          <p:cNvPr id="21" name="Rounded Rectangle 20"/>
          <p:cNvSpPr/>
          <p:nvPr/>
        </p:nvSpPr>
        <p:spPr>
          <a:xfrm>
            <a:off x="9747504" y="2523744"/>
            <a:ext cx="1389888" cy="256032"/>
          </a:xfrm>
          <a:prstGeom prst="roundRect">
            <a:avLst>
              <a:gd name="adj" fmla="val 22000"/>
            </a:avLst>
          </a:prstGeom>
          <a:solidFill>
            <a:srgbClr val="2E260E"/>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FBBF24"/>
                </a:solidFill>
                <a:latin typeface="Segoe UI"/>
              </a:rPr>
              <a:t>Needs review</a:t>
            </a:r>
          </a:p>
        </p:txBody>
      </p:sp>
      <p:sp>
        <p:nvSpPr>
          <p:cNvPr id="22" name="Rectangle 21"/>
          <p:cNvSpPr/>
          <p:nvPr/>
        </p:nvSpPr>
        <p:spPr>
          <a:xfrm>
            <a:off x="6912864" y="4729941"/>
            <a:ext cx="4224528"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638501"/>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100</a:t>
            </a:r>
          </a:p>
        </p:txBody>
      </p:sp>
      <p:sp>
        <p:nvSpPr>
          <p:cNvPr id="24" name="Rectangle 23"/>
          <p:cNvSpPr/>
          <p:nvPr/>
        </p:nvSpPr>
        <p:spPr>
          <a:xfrm>
            <a:off x="6912864" y="4044973"/>
            <a:ext cx="4224528"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953533"/>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120</a:t>
            </a:r>
          </a:p>
        </p:txBody>
      </p:sp>
      <p:sp>
        <p:nvSpPr>
          <p:cNvPr id="26" name="Rectangle 25"/>
          <p:cNvSpPr/>
          <p:nvPr/>
        </p:nvSpPr>
        <p:spPr>
          <a:xfrm>
            <a:off x="6912864" y="3360004"/>
            <a:ext cx="4224528" cy="9525"/>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268564"/>
            <a:ext cx="47548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140</a:t>
            </a:r>
          </a:p>
        </p:txBody>
      </p:sp>
      <p:sp>
        <p:nvSpPr>
          <p:cNvPr id="28" name="Freeform 27"/>
          <p:cNvSpPr/>
          <p:nvPr/>
        </p:nvSpPr>
        <p:spPr>
          <a:xfrm>
            <a:off x="6912864" y="3812083"/>
            <a:ext cx="4224528" cy="917858"/>
          </a:xfrm>
          <a:custGeom>
            <a:avLst/>
            <a:gdLst/>
            <a:ahLst/>
            <a:cxnLst/>
            <a:rect l="l" t="t" r="r" b="b"/>
            <a:pathLst>
              <a:path w="4224528" h="917858">
                <a:moveTo>
                  <a:pt x="0" y="917858"/>
                </a:moveTo>
                <a:lnTo>
                  <a:pt x="156464" y="852786"/>
                </a:lnTo>
                <a:lnTo>
                  <a:pt x="312928" y="787714"/>
                </a:lnTo>
                <a:lnTo>
                  <a:pt x="469391" y="722642"/>
                </a:lnTo>
                <a:lnTo>
                  <a:pt x="625855" y="660995"/>
                </a:lnTo>
                <a:lnTo>
                  <a:pt x="782319" y="602773"/>
                </a:lnTo>
                <a:lnTo>
                  <a:pt x="938783" y="544550"/>
                </a:lnTo>
                <a:lnTo>
                  <a:pt x="1095247" y="486328"/>
                </a:lnTo>
                <a:lnTo>
                  <a:pt x="1251712" y="438380"/>
                </a:lnTo>
                <a:lnTo>
                  <a:pt x="1408176" y="397282"/>
                </a:lnTo>
                <a:lnTo>
                  <a:pt x="1564640" y="366458"/>
                </a:lnTo>
                <a:lnTo>
                  <a:pt x="1721104" y="339060"/>
                </a:lnTo>
                <a:lnTo>
                  <a:pt x="1877568" y="321936"/>
                </a:lnTo>
                <a:lnTo>
                  <a:pt x="2034032" y="304811"/>
                </a:lnTo>
                <a:lnTo>
                  <a:pt x="2190496" y="287687"/>
                </a:lnTo>
                <a:lnTo>
                  <a:pt x="2346959" y="270563"/>
                </a:lnTo>
                <a:lnTo>
                  <a:pt x="2503424" y="253439"/>
                </a:lnTo>
                <a:lnTo>
                  <a:pt x="2659888" y="239739"/>
                </a:lnTo>
                <a:lnTo>
                  <a:pt x="2816352" y="226040"/>
                </a:lnTo>
                <a:lnTo>
                  <a:pt x="2972815" y="212341"/>
                </a:lnTo>
                <a:lnTo>
                  <a:pt x="3129280" y="198641"/>
                </a:lnTo>
                <a:lnTo>
                  <a:pt x="3285744" y="184942"/>
                </a:lnTo>
                <a:lnTo>
                  <a:pt x="3442208" y="167818"/>
                </a:lnTo>
                <a:lnTo>
                  <a:pt x="3598672" y="143844"/>
                </a:lnTo>
                <a:lnTo>
                  <a:pt x="3755136" y="113020"/>
                </a:lnTo>
                <a:lnTo>
                  <a:pt x="3911600" y="78772"/>
                </a:lnTo>
                <a:lnTo>
                  <a:pt x="4068064" y="37674"/>
                </a:lnTo>
                <a:lnTo>
                  <a:pt x="4224528" y="0"/>
                </a:lnTo>
              </a:path>
            </a:pathLst>
          </a:custGeom>
          <a:noFill/>
          <a:ln w="22225">
            <a:solidFill>
              <a:srgbClr val="FF91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912864" y="3079167"/>
            <a:ext cx="4224528" cy="1650774"/>
          </a:xfrm>
          <a:custGeom>
            <a:avLst/>
            <a:gdLst/>
            <a:ahLst/>
            <a:cxnLst/>
            <a:rect l="l" t="t" r="r" b="b"/>
            <a:pathLst>
              <a:path w="4224528" h="1650774">
                <a:moveTo>
                  <a:pt x="0" y="1650774"/>
                </a:moveTo>
                <a:lnTo>
                  <a:pt x="156464" y="1500081"/>
                </a:lnTo>
                <a:lnTo>
                  <a:pt x="312928" y="1349388"/>
                </a:lnTo>
                <a:lnTo>
                  <a:pt x="469391" y="1198695"/>
                </a:lnTo>
                <a:lnTo>
                  <a:pt x="625855" y="1051427"/>
                </a:lnTo>
                <a:lnTo>
                  <a:pt x="782319" y="904158"/>
                </a:lnTo>
                <a:lnTo>
                  <a:pt x="938783" y="756890"/>
                </a:lnTo>
                <a:lnTo>
                  <a:pt x="1095247" y="613047"/>
                </a:lnTo>
                <a:lnTo>
                  <a:pt x="1251712" y="544550"/>
                </a:lnTo>
                <a:lnTo>
                  <a:pt x="1408176" y="513726"/>
                </a:lnTo>
                <a:lnTo>
                  <a:pt x="1564640" y="486327"/>
                </a:lnTo>
                <a:lnTo>
                  <a:pt x="1721104" y="455504"/>
                </a:lnTo>
                <a:lnTo>
                  <a:pt x="1877568" y="424680"/>
                </a:lnTo>
                <a:lnTo>
                  <a:pt x="2034032" y="393857"/>
                </a:lnTo>
                <a:lnTo>
                  <a:pt x="2190496" y="359608"/>
                </a:lnTo>
                <a:lnTo>
                  <a:pt x="2346959" y="325360"/>
                </a:lnTo>
                <a:lnTo>
                  <a:pt x="2503424" y="291111"/>
                </a:lnTo>
                <a:lnTo>
                  <a:pt x="2659888" y="253438"/>
                </a:lnTo>
                <a:lnTo>
                  <a:pt x="2816352" y="219190"/>
                </a:lnTo>
                <a:lnTo>
                  <a:pt x="2972815" y="181516"/>
                </a:lnTo>
                <a:lnTo>
                  <a:pt x="3129280" y="143843"/>
                </a:lnTo>
                <a:lnTo>
                  <a:pt x="3285744" y="174667"/>
                </a:lnTo>
                <a:lnTo>
                  <a:pt x="3442208" y="184941"/>
                </a:lnTo>
                <a:lnTo>
                  <a:pt x="3598672" y="150693"/>
                </a:lnTo>
                <a:lnTo>
                  <a:pt x="3755136" y="116444"/>
                </a:lnTo>
                <a:lnTo>
                  <a:pt x="3911600" y="78771"/>
                </a:lnTo>
                <a:lnTo>
                  <a:pt x="4068064" y="41098"/>
                </a:lnTo>
                <a:lnTo>
                  <a:pt x="4224528" y="0"/>
                </a:lnTo>
              </a:path>
            </a:pathLst>
          </a:custGeom>
          <a:noFill/>
          <a:ln w="28575">
            <a:solidFill>
              <a:srgbClr val="5AA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137392" y="3079167"/>
            <a:ext cx="12700" cy="732916"/>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91672" y="3033447"/>
            <a:ext cx="91440" cy="91440"/>
          </a:xfrm>
          <a:prstGeom prst="ellipse">
            <a:avLst/>
          </a:prstGeom>
          <a:solidFill>
            <a:srgbClr val="5A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91672" y="3766363"/>
            <a:ext cx="91440" cy="91440"/>
          </a:xfrm>
          <a:prstGeom prst="ellipse">
            <a:avLst/>
          </a:prstGeom>
          <a:solidFill>
            <a:srgbClr val="FF9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12864" y="4974336"/>
            <a:ext cx="4224528" cy="219456"/>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7D9A95"/>
                </a:solidFill>
                <a:latin typeface="Consolas"/>
              </a:rPr>
              <a:t>15 Aug</a:t>
            </a:r>
          </a:p>
        </p:txBody>
      </p:sp>
      <p:sp>
        <p:nvSpPr>
          <p:cNvPr id="34" name="TextBox 33"/>
          <p:cNvSpPr txBox="1"/>
          <p:nvPr/>
        </p:nvSpPr>
        <p:spPr>
          <a:xfrm>
            <a:off x="6912864" y="4974336"/>
            <a:ext cx="4224528" cy="219456"/>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7D9A95"/>
                </a:solidFill>
                <a:latin typeface="Consolas"/>
              </a:rPr>
              <a:t>11 Sep</a:t>
            </a:r>
          </a:p>
        </p:txBody>
      </p:sp>
      <p:sp>
        <p:nvSpPr>
          <p:cNvPr id="35" name="TextBox 34"/>
          <p:cNvSpPr txBox="1"/>
          <p:nvPr/>
        </p:nvSpPr>
        <p:spPr>
          <a:xfrm>
            <a:off x="6455664" y="5321807"/>
            <a:ext cx="4681728" cy="822960"/>
          </a:xfrm>
          <a:prstGeom prst="rect">
            <a:avLst/>
          </a:prstGeom>
          <a:noFill/>
        </p:spPr>
        <p:txBody>
          <a:bodyPr wrap="square" anchor="t" lIns="0" rIns="0" tIns="0" bIns="0">
            <a:spAutoFit/>
          </a:bodyPr>
          <a:lstStyle/>
          <a:p>
            <a:pPr algn="l">
              <a:lnSpc>
                <a:spcPct val="132000"/>
              </a:lnSpc>
              <a:spcBef>
                <a:spcPts val="0"/>
              </a:spcBef>
            </a:pPr>
            <a:r>
              <a:rPr sz="1150" b="0" i="0">
                <a:solidFill>
                  <a:srgbClr val="A7C3BE"/>
                </a:solidFill>
                <a:latin typeface="Segoe UI"/>
              </a:rPr>
              <a:t>Reported biomass ran up to </a:t>
            </a:r>
            <a:r>
              <a:rPr sz="1150" b="1" i="0">
                <a:solidFill>
                  <a:srgbClr val="EAF6F3"/>
                </a:solidFill>
                <a:latin typeface="Consolas"/>
              </a:rPr>
              <a:t>+19.0%</a:t>
            </a:r>
            <a:r>
              <a:rPr sz="1150" b="0" i="0">
                <a:solidFill>
                  <a:srgbClr val="A7C3BE"/>
                </a:solidFill>
                <a:latin typeface="Segoe UI"/>
              </a:rPr>
              <a:t> above the proxy and stayed outside tolerance for </a:t>
            </a:r>
            <a:r>
              <a:rPr sz="1150" b="1" i="0">
                <a:solidFill>
                  <a:srgbClr val="EAF6F3"/>
                </a:solidFill>
                <a:latin typeface="Consolas"/>
              </a:rPr>
              <a:t>21 consecutive days</a:t>
            </a:r>
            <a:r>
              <a:rPr sz="1150" b="0" i="0">
                <a:solidFill>
                  <a:srgbClr val="A7C3BE"/>
                </a:solidFill>
                <a:latin typeface="Segoe UI"/>
              </a:rPr>
              <a:t> of the 28 compared. Flagged — not accused.</a:t>
            </a:r>
          </a:p>
        </p:txBody>
      </p:sp>
      <p:sp>
        <p:nvSpPr>
          <p:cNvPr id="36" name="Rectangle 35"/>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2960" y="6272784"/>
            <a:ext cx="5271516"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5 / 10</a:t>
            </a:r>
          </a:p>
        </p:txBody>
      </p:sp>
      <p:sp>
        <p:nvSpPr>
          <p:cNvPr id="39" name="TextBox 38"/>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Algae Carbon Monitoring  ·  Pixel Error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COVERAGE</a:t>
            </a:r>
          </a:p>
        </p:txBody>
      </p:sp>
      <p:sp>
        <p:nvSpPr>
          <p:cNvPr id="3" name="TextBox 2"/>
          <p:cNvSpPr txBox="1"/>
          <p:nvPr/>
        </p:nvSpPr>
        <p:spPr>
          <a:xfrm>
            <a:off x="822960" y="932688"/>
            <a:ext cx="8595360" cy="1371600"/>
          </a:xfrm>
          <a:prstGeom prst="rect">
            <a:avLst/>
          </a:prstGeom>
          <a:noFill/>
        </p:spPr>
        <p:txBody>
          <a:bodyPr wrap="square" anchor="t" lIns="0" rIns="0" tIns="0" bIns="0">
            <a:spAutoFit/>
          </a:bodyPr>
          <a:lstStyle/>
          <a:p>
            <a:pPr algn="l">
              <a:lnSpc>
                <a:spcPct val="110000"/>
              </a:lnSpc>
              <a:spcBef>
                <a:spcPts val="0"/>
              </a:spcBef>
              <a:spcAft>
                <a:spcPts val="0"/>
              </a:spcAft>
            </a:pPr>
            <a:r>
              <a:rPr sz="3100" b="0" i="0">
                <a:solidFill>
                  <a:srgbClr val="EAF6F3"/>
                </a:solidFill>
                <a:latin typeface="Georgia"/>
              </a:rPr>
              <a:t>A facility does not fail verification. A pond does.</a:t>
            </a:r>
          </a:p>
        </p:txBody>
      </p:sp>
      <p:sp>
        <p:nvSpPr>
          <p:cNvPr id="4" name="TextBox 3"/>
          <p:cNvSpPr txBox="1"/>
          <p:nvPr/>
        </p:nvSpPr>
        <p:spPr>
          <a:xfrm>
            <a:off x="822960" y="2304288"/>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Earthrise Block A</a:t>
            </a:r>
          </a:p>
        </p:txBody>
      </p:sp>
      <p:sp>
        <p:nvSpPr>
          <p:cNvPr id="5" name="TextBox 4"/>
          <p:cNvSpPr txBox="1"/>
          <p:nvPr/>
        </p:nvSpPr>
        <p:spPr>
          <a:xfrm>
            <a:off x="822960" y="2523744"/>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Calipatria, California</a:t>
            </a:r>
          </a:p>
        </p:txBody>
      </p:sp>
      <p:sp>
        <p:nvSpPr>
          <p:cNvPr id="6" name="TextBox 5"/>
          <p:cNvSpPr txBox="1"/>
          <p:nvPr/>
        </p:nvSpPr>
        <p:spPr>
          <a:xfrm>
            <a:off x="3383280" y="2359152"/>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45,624 kg</a:t>
            </a:r>
          </a:p>
        </p:txBody>
      </p:sp>
      <p:sp>
        <p:nvSpPr>
          <p:cNvPr id="7" name="Rounded Rectangle 6"/>
          <p:cNvSpPr/>
          <p:nvPr/>
        </p:nvSpPr>
        <p:spPr>
          <a:xfrm>
            <a:off x="4956048" y="2340864"/>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8" name="Rectangle 7"/>
          <p:cNvSpPr/>
          <p:nvPr/>
        </p:nvSpPr>
        <p:spPr>
          <a:xfrm>
            <a:off x="822960" y="2871216"/>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962656"/>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Earthrise Block B</a:t>
            </a:r>
          </a:p>
        </p:txBody>
      </p:sp>
      <p:sp>
        <p:nvSpPr>
          <p:cNvPr id="10" name="TextBox 9"/>
          <p:cNvSpPr txBox="1"/>
          <p:nvPr/>
        </p:nvSpPr>
        <p:spPr>
          <a:xfrm>
            <a:off x="822960" y="3182112"/>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Calipatria, California</a:t>
            </a:r>
          </a:p>
        </p:txBody>
      </p:sp>
      <p:sp>
        <p:nvSpPr>
          <p:cNvPr id="11" name="TextBox 10"/>
          <p:cNvSpPr txBox="1"/>
          <p:nvPr/>
        </p:nvSpPr>
        <p:spPr>
          <a:xfrm>
            <a:off x="3383280" y="3017520"/>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38,593 kg</a:t>
            </a:r>
          </a:p>
        </p:txBody>
      </p:sp>
      <p:sp>
        <p:nvSpPr>
          <p:cNvPr id="12" name="Rounded Rectangle 11"/>
          <p:cNvSpPr/>
          <p:nvPr/>
        </p:nvSpPr>
        <p:spPr>
          <a:xfrm>
            <a:off x="4956048" y="2999232"/>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13" name="Rectangle 12"/>
          <p:cNvSpPr/>
          <p:nvPr/>
        </p:nvSpPr>
        <p:spPr>
          <a:xfrm>
            <a:off x="822960" y="3529584"/>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621024"/>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Earthrise Block C</a:t>
            </a:r>
          </a:p>
        </p:txBody>
      </p:sp>
      <p:sp>
        <p:nvSpPr>
          <p:cNvPr id="15" name="TextBox 14"/>
          <p:cNvSpPr txBox="1"/>
          <p:nvPr/>
        </p:nvSpPr>
        <p:spPr>
          <a:xfrm>
            <a:off x="822960" y="3840480"/>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Calipatria, California</a:t>
            </a:r>
          </a:p>
        </p:txBody>
      </p:sp>
      <p:sp>
        <p:nvSpPr>
          <p:cNvPr id="16" name="TextBox 15"/>
          <p:cNvSpPr txBox="1"/>
          <p:nvPr/>
        </p:nvSpPr>
        <p:spPr>
          <a:xfrm>
            <a:off x="3383280" y="3675887"/>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38,037 kg</a:t>
            </a:r>
          </a:p>
        </p:txBody>
      </p:sp>
      <p:sp>
        <p:nvSpPr>
          <p:cNvPr id="17" name="Rounded Rectangle 16"/>
          <p:cNvSpPr/>
          <p:nvPr/>
        </p:nvSpPr>
        <p:spPr>
          <a:xfrm>
            <a:off x="4956048" y="3657600"/>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18" name="Rectangle 17"/>
          <p:cNvSpPr/>
          <p:nvPr/>
        </p:nvSpPr>
        <p:spPr>
          <a:xfrm>
            <a:off x="822960" y="4187952"/>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79392"/>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Cyanotech Block A</a:t>
            </a:r>
          </a:p>
        </p:txBody>
      </p:sp>
      <p:sp>
        <p:nvSpPr>
          <p:cNvPr id="20" name="TextBox 19"/>
          <p:cNvSpPr txBox="1"/>
          <p:nvPr/>
        </p:nvSpPr>
        <p:spPr>
          <a:xfrm>
            <a:off x="822960" y="4498848"/>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Keahole Point, Hawaii</a:t>
            </a:r>
          </a:p>
        </p:txBody>
      </p:sp>
      <p:sp>
        <p:nvSpPr>
          <p:cNvPr id="21" name="TextBox 20"/>
          <p:cNvSpPr txBox="1"/>
          <p:nvPr/>
        </p:nvSpPr>
        <p:spPr>
          <a:xfrm>
            <a:off x="3383280" y="4334255"/>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15,770 kg</a:t>
            </a:r>
          </a:p>
        </p:txBody>
      </p:sp>
      <p:sp>
        <p:nvSpPr>
          <p:cNvPr id="22" name="Rounded Rectangle 21"/>
          <p:cNvSpPr/>
          <p:nvPr/>
        </p:nvSpPr>
        <p:spPr>
          <a:xfrm>
            <a:off x="4956048" y="4315968"/>
            <a:ext cx="1389888" cy="256032"/>
          </a:xfrm>
          <a:prstGeom prst="roundRect">
            <a:avLst>
              <a:gd name="adj" fmla="val 22000"/>
            </a:avLst>
          </a:prstGeom>
          <a:solidFill>
            <a:srgbClr val="2E260E"/>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FBBF24"/>
                </a:solidFill>
                <a:latin typeface="Segoe UI"/>
              </a:rPr>
              <a:t>Needs review</a:t>
            </a:r>
          </a:p>
        </p:txBody>
      </p:sp>
      <p:sp>
        <p:nvSpPr>
          <p:cNvPr id="23" name="Rectangle 22"/>
          <p:cNvSpPr/>
          <p:nvPr/>
        </p:nvSpPr>
        <p:spPr>
          <a:xfrm>
            <a:off x="822960" y="4846320"/>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937759"/>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Cyanotech Block B</a:t>
            </a:r>
          </a:p>
        </p:txBody>
      </p:sp>
      <p:sp>
        <p:nvSpPr>
          <p:cNvPr id="25" name="TextBox 24"/>
          <p:cNvSpPr txBox="1"/>
          <p:nvPr/>
        </p:nvSpPr>
        <p:spPr>
          <a:xfrm>
            <a:off x="822960" y="5157216"/>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Keahole Point, Hawaii</a:t>
            </a:r>
          </a:p>
        </p:txBody>
      </p:sp>
      <p:sp>
        <p:nvSpPr>
          <p:cNvPr id="26" name="TextBox 25"/>
          <p:cNvSpPr txBox="1"/>
          <p:nvPr/>
        </p:nvSpPr>
        <p:spPr>
          <a:xfrm>
            <a:off x="3383280" y="4992623"/>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10,825 kg</a:t>
            </a:r>
          </a:p>
        </p:txBody>
      </p:sp>
      <p:sp>
        <p:nvSpPr>
          <p:cNvPr id="27" name="Rounded Rectangle 26"/>
          <p:cNvSpPr/>
          <p:nvPr/>
        </p:nvSpPr>
        <p:spPr>
          <a:xfrm>
            <a:off x="4956048" y="4974336"/>
            <a:ext cx="1389888" cy="256032"/>
          </a:xfrm>
          <a:prstGeom prst="roundRect">
            <a:avLst>
              <a:gd name="adj" fmla="val 22000"/>
            </a:avLst>
          </a:prstGeom>
          <a:solidFill>
            <a:srgbClr val="2E260E"/>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FBBF24"/>
                </a:solidFill>
                <a:latin typeface="Segoe UI"/>
              </a:rPr>
              <a:t>Needs review</a:t>
            </a:r>
          </a:p>
        </p:txBody>
      </p:sp>
      <p:sp>
        <p:nvSpPr>
          <p:cNvPr id="28" name="Rectangle 27"/>
          <p:cNvSpPr/>
          <p:nvPr/>
        </p:nvSpPr>
        <p:spPr>
          <a:xfrm>
            <a:off x="822960" y="5504688"/>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596127"/>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AF6F3"/>
                </a:solidFill>
                <a:latin typeface="Segoe UI"/>
              </a:rPr>
              <a:t>Cyanotech Block C</a:t>
            </a:r>
          </a:p>
        </p:txBody>
      </p:sp>
      <p:sp>
        <p:nvSpPr>
          <p:cNvPr id="30" name="TextBox 29"/>
          <p:cNvSpPr txBox="1"/>
          <p:nvPr/>
        </p:nvSpPr>
        <p:spPr>
          <a:xfrm>
            <a:off x="822960" y="5815583"/>
            <a:ext cx="2743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7D9A95"/>
                </a:solidFill>
                <a:latin typeface="Segoe UI"/>
              </a:rPr>
              <a:t>Keahole Point, Hawaii</a:t>
            </a:r>
          </a:p>
        </p:txBody>
      </p:sp>
      <p:sp>
        <p:nvSpPr>
          <p:cNvPr id="31" name="TextBox 30"/>
          <p:cNvSpPr txBox="1"/>
          <p:nvPr/>
        </p:nvSpPr>
        <p:spPr>
          <a:xfrm>
            <a:off x="3383280" y="5650991"/>
            <a:ext cx="137160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5,489 kg</a:t>
            </a:r>
          </a:p>
        </p:txBody>
      </p:sp>
      <p:sp>
        <p:nvSpPr>
          <p:cNvPr id="32" name="Rounded Rectangle 31"/>
          <p:cNvSpPr/>
          <p:nvPr/>
        </p:nvSpPr>
        <p:spPr>
          <a:xfrm>
            <a:off x="4956048" y="5632703"/>
            <a:ext cx="1389888" cy="256032"/>
          </a:xfrm>
          <a:prstGeom prst="roundRect">
            <a:avLst>
              <a:gd name="adj" fmla="val 22000"/>
            </a:avLst>
          </a:prstGeom>
          <a:solidFill>
            <a:srgbClr val="2E260E"/>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FBBF24"/>
                </a:solidFill>
                <a:latin typeface="Segoe UI"/>
              </a:rPr>
              <a:t>Needs review</a:t>
            </a:r>
          </a:p>
        </p:txBody>
      </p:sp>
      <p:sp>
        <p:nvSpPr>
          <p:cNvPr id="33" name="Rectangle 32"/>
          <p:cNvSpPr/>
          <p:nvPr/>
        </p:nvSpPr>
        <p:spPr>
          <a:xfrm>
            <a:off x="822960" y="6163055"/>
            <a:ext cx="5577840"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986016" y="2249424"/>
            <a:ext cx="4389120" cy="1938528"/>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78624" y="2468880"/>
            <a:ext cx="384048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spc="100">
                <a:solidFill>
                  <a:srgbClr val="7D9A95"/>
                </a:solidFill>
                <a:latin typeface="Segoe UI"/>
              </a:rPr>
              <a:t>REPORTED ACROSS SIX BLOCKS</a:t>
            </a:r>
          </a:p>
        </p:txBody>
      </p:sp>
      <p:sp>
        <p:nvSpPr>
          <p:cNvPr id="36" name="TextBox 35"/>
          <p:cNvSpPr txBox="1"/>
          <p:nvPr/>
        </p:nvSpPr>
        <p:spPr>
          <a:xfrm>
            <a:off x="7278624" y="2743200"/>
            <a:ext cx="3840480" cy="640080"/>
          </a:xfrm>
          <a:prstGeom prst="rect">
            <a:avLst/>
          </a:prstGeom>
          <a:noFill/>
        </p:spPr>
        <p:txBody>
          <a:bodyPr wrap="square" anchor="t" lIns="0" rIns="0" tIns="0" bIns="0">
            <a:spAutoFit/>
          </a:bodyPr>
          <a:lstStyle/>
          <a:p>
            <a:pPr algn="l">
              <a:lnSpc>
                <a:spcPct val="100000"/>
              </a:lnSpc>
              <a:spcBef>
                <a:spcPts val="0"/>
              </a:spcBef>
            </a:pPr>
            <a:r>
              <a:rPr sz="4000" b="0" i="0">
                <a:solidFill>
                  <a:srgbClr val="EAF6F3"/>
                </a:solidFill>
                <a:latin typeface="Georgia"/>
              </a:rPr>
              <a:t>154.3</a:t>
            </a:r>
            <a:r>
              <a:rPr sz="1700" b="0" i="0">
                <a:solidFill>
                  <a:srgbClr val="7D9A95"/>
                </a:solidFill>
                <a:latin typeface="Georgia"/>
              </a:rPr>
              <a:t> t CO₂</a:t>
            </a:r>
          </a:p>
        </p:txBody>
      </p:sp>
      <p:sp>
        <p:nvSpPr>
          <p:cNvPr id="37" name="Rectangle 36"/>
          <p:cNvSpPr/>
          <p:nvPr/>
        </p:nvSpPr>
        <p:spPr>
          <a:xfrm>
            <a:off x="7278624" y="3529584"/>
            <a:ext cx="380390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78624" y="3602736"/>
            <a:ext cx="256032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35DCB7"/>
                </a:solidFill>
                <a:latin typeface="Segoe UI"/>
              </a:rPr>
              <a:t>Supported by imagery</a:t>
            </a:r>
          </a:p>
        </p:txBody>
      </p:sp>
      <p:sp>
        <p:nvSpPr>
          <p:cNvPr id="39" name="TextBox 38"/>
          <p:cNvSpPr txBox="1"/>
          <p:nvPr/>
        </p:nvSpPr>
        <p:spPr>
          <a:xfrm>
            <a:off x="9509760" y="3602736"/>
            <a:ext cx="1609344"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122.3 t</a:t>
            </a:r>
          </a:p>
        </p:txBody>
      </p:sp>
      <p:sp>
        <p:nvSpPr>
          <p:cNvPr id="40" name="Rectangle 39"/>
          <p:cNvSpPr/>
          <p:nvPr/>
        </p:nvSpPr>
        <p:spPr>
          <a:xfrm>
            <a:off x="7278624" y="3895344"/>
            <a:ext cx="380390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78624" y="3968496"/>
            <a:ext cx="256032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FBBF24"/>
                </a:solidFill>
                <a:latin typeface="Segoe UI"/>
              </a:rPr>
              <a:t>Held for review</a:t>
            </a:r>
          </a:p>
        </p:txBody>
      </p:sp>
      <p:sp>
        <p:nvSpPr>
          <p:cNvPr id="42" name="TextBox 41"/>
          <p:cNvSpPr txBox="1"/>
          <p:nvPr/>
        </p:nvSpPr>
        <p:spPr>
          <a:xfrm>
            <a:off x="9509760" y="3968496"/>
            <a:ext cx="1609344" cy="274320"/>
          </a:xfrm>
          <a:prstGeom prst="rect">
            <a:avLst/>
          </a:prstGeom>
          <a:noFill/>
        </p:spPr>
        <p:txBody>
          <a:bodyPr wrap="square" anchor="t" lIns="0" rIns="0" tIns="0" bIns="0">
            <a:spAutoFit/>
          </a:bodyPr>
          <a:lstStyle/>
          <a:p>
            <a:pPr algn="r">
              <a:lnSpc>
                <a:spcPct val="100000"/>
              </a:lnSpc>
              <a:spcBef>
                <a:spcPts val="0"/>
              </a:spcBef>
              <a:spcAft>
                <a:spcPts val="0"/>
              </a:spcAft>
            </a:pPr>
            <a:r>
              <a:rPr sz="1150" b="0" i="0">
                <a:solidFill>
                  <a:srgbClr val="A7C3BE"/>
                </a:solidFill>
                <a:latin typeface="Consolas"/>
              </a:rPr>
              <a:t>32.1 t</a:t>
            </a:r>
          </a:p>
        </p:txBody>
      </p:sp>
      <p:sp>
        <p:nvSpPr>
          <p:cNvPr id="43" name="TextBox 42"/>
          <p:cNvSpPr txBox="1"/>
          <p:nvPr/>
        </p:nvSpPr>
        <p:spPr>
          <a:xfrm>
            <a:off x="6986016" y="4370832"/>
            <a:ext cx="4389120" cy="1737360"/>
          </a:xfrm>
          <a:prstGeom prst="rect">
            <a:avLst/>
          </a:prstGeom>
          <a:noFill/>
        </p:spPr>
        <p:txBody>
          <a:bodyPr wrap="square" anchor="t" lIns="0" rIns="0" tIns="0" bIns="0">
            <a:spAutoFit/>
          </a:bodyPr>
          <a:lstStyle/>
          <a:p>
            <a:pPr algn="l">
              <a:lnSpc>
                <a:spcPct val="132000"/>
              </a:lnSpc>
              <a:spcBef>
                <a:spcPts val="0"/>
              </a:spcBef>
            </a:pPr>
            <a:r>
              <a:rPr sz="1200" b="0" i="0">
                <a:solidFill>
                  <a:srgbClr val="A7C3BE"/>
                </a:solidFill>
                <a:latin typeface="Segoe UI"/>
              </a:rPr>
              <a:t>The blocks were </a:t>
            </a:r>
            <a:r>
              <a:rPr sz="1200" b="1" i="0">
                <a:solidFill>
                  <a:srgbClr val="EAF6F3"/>
                </a:solidFill>
                <a:latin typeface="Segoe UI"/>
              </a:rPr>
              <a:t>delineated from the imagery</a:t>
            </a:r>
            <a:r>
              <a:rPr sz="1200" b="0" i="0">
                <a:solidFill>
                  <a:srgbClr val="A7C3BE"/>
                </a:solidFill>
                <a:latin typeface="Segoe UI"/>
              </a:rPr>
              <a:t>, not drawn by hand: pixels holding chlorophyll across every date in the window, clustered inside each validated facility footprint.</a:t>
            </a:r>
          </a:p>
          <a:p>
            <a:pPr algn="l">
              <a:lnSpc>
                <a:spcPct val="130000"/>
              </a:lnSpc>
              <a:spcBef>
                <a:spcPts val="1000"/>
              </a:spcBef>
              <a:spcAft>
                <a:spcPts val="0"/>
              </a:spcAft>
            </a:pPr>
            <a:r>
              <a:rPr sz="1050" b="0" i="0">
                <a:solidFill>
                  <a:srgbClr val="7D9A95"/>
                </a:solidFill>
                <a:latin typeface="Segoe UI"/>
              </a:rPr>
              <a:t>Cyanotech’s three blocks flag on their own data — sparser cloud-free imagery, six usable dates against Earthrise’s nine. That is a property of the evidence, not a claim about the company.</a:t>
            </a:r>
          </a:p>
        </p:txBody>
      </p:sp>
      <p:sp>
        <p:nvSpPr>
          <p:cNvPr id="44" name="Rectangle 43"/>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22960" y="6272784"/>
            <a:ext cx="6325819"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6 / 10</a:t>
            </a:r>
          </a:p>
        </p:txBody>
      </p:sp>
      <p:sp>
        <p:nvSpPr>
          <p:cNvPr id="47" name="TextBox 46"/>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Algae Carbon Monitoring  ·  Pixel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THE OUTPUT</a:t>
            </a:r>
          </a:p>
        </p:txBody>
      </p:sp>
      <p:sp>
        <p:nvSpPr>
          <p:cNvPr id="3" name="TextBox 2"/>
          <p:cNvSpPr txBox="1"/>
          <p:nvPr/>
        </p:nvSpPr>
        <p:spPr>
          <a:xfrm>
            <a:off x="822960" y="932688"/>
            <a:ext cx="8595360" cy="1371600"/>
          </a:xfrm>
          <a:prstGeom prst="rect">
            <a:avLst/>
          </a:prstGeom>
          <a:noFill/>
        </p:spPr>
        <p:txBody>
          <a:bodyPr wrap="square" anchor="t" lIns="0" rIns="0" tIns="0" bIns="0">
            <a:spAutoFit/>
          </a:bodyPr>
          <a:lstStyle/>
          <a:p>
            <a:pPr algn="l">
              <a:lnSpc>
                <a:spcPct val="110000"/>
              </a:lnSpc>
              <a:spcBef>
                <a:spcPts val="0"/>
              </a:spcBef>
              <a:spcAft>
                <a:spcPts val="0"/>
              </a:spcAft>
            </a:pPr>
            <a:r>
              <a:rPr sz="3400" b="0" i="0">
                <a:solidFill>
                  <a:srgbClr val="EAF6F3"/>
                </a:solidFill>
                <a:latin typeface="Georgia"/>
              </a:rPr>
              <a:t>A document whose identity is its figures.</a:t>
            </a:r>
          </a:p>
        </p:txBody>
      </p:sp>
      <p:sp>
        <p:nvSpPr>
          <p:cNvPr id="4" name="Rounded Rectangle 3"/>
          <p:cNvSpPr/>
          <p:nvPr/>
        </p:nvSpPr>
        <p:spPr>
          <a:xfrm>
            <a:off x="822960" y="2286000"/>
            <a:ext cx="4846320" cy="2926080"/>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2542032"/>
            <a:ext cx="2377440"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2DD4BF"/>
                </a:solidFill>
                <a:latin typeface="Consolas"/>
              </a:rPr>
              <a:t>AC-2026-83D755</a:t>
            </a:r>
          </a:p>
        </p:txBody>
      </p:sp>
      <p:sp>
        <p:nvSpPr>
          <p:cNvPr id="6" name="Rounded Rectangle 5"/>
          <p:cNvSpPr/>
          <p:nvPr/>
        </p:nvSpPr>
        <p:spPr>
          <a:xfrm>
            <a:off x="4224528" y="2505456"/>
            <a:ext cx="1170432" cy="256032"/>
          </a:xfrm>
          <a:prstGeom prst="roundRect">
            <a:avLst>
              <a:gd name="adj" fmla="val 22000"/>
            </a:avLst>
          </a:prstGeom>
          <a:solidFill>
            <a:srgbClr val="0D2B2B"/>
          </a:solidFill>
          <a:ln w="9525">
            <a:solidFill>
              <a:srgbClr val="35DC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Bef>
                <a:spcPts val="0"/>
              </a:spcBef>
              <a:spcAft>
                <a:spcPts val="0"/>
              </a:spcAft>
            </a:pPr>
            <a:r>
              <a:rPr sz="1000" b="1" i="0">
                <a:solidFill>
                  <a:srgbClr val="35DCB7"/>
                </a:solidFill>
                <a:latin typeface="Segoe UI"/>
              </a:rPr>
              <a:t>Verified</a:t>
            </a:r>
          </a:p>
        </p:txBody>
      </p:sp>
      <p:sp>
        <p:nvSpPr>
          <p:cNvPr id="7" name="TextBox 6"/>
          <p:cNvSpPr txBox="1"/>
          <p:nvPr/>
        </p:nvSpPr>
        <p:spPr>
          <a:xfrm>
            <a:off x="1115568" y="3035808"/>
            <a:ext cx="420624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spc="100">
                <a:solidFill>
                  <a:srgbClr val="7D9A95"/>
                </a:solidFill>
                <a:latin typeface="Segoe UI"/>
              </a:rPr>
              <a:t>CO₂ FIXED, REPORTING PERIOD</a:t>
            </a:r>
          </a:p>
        </p:txBody>
      </p:sp>
      <p:sp>
        <p:nvSpPr>
          <p:cNvPr id="8" name="TextBox 7"/>
          <p:cNvSpPr txBox="1"/>
          <p:nvPr/>
        </p:nvSpPr>
        <p:spPr>
          <a:xfrm>
            <a:off x="1115568" y="3310128"/>
            <a:ext cx="4206240" cy="731520"/>
          </a:xfrm>
          <a:prstGeom prst="rect">
            <a:avLst/>
          </a:prstGeom>
          <a:noFill/>
        </p:spPr>
        <p:txBody>
          <a:bodyPr wrap="square" anchor="t" lIns="0" rIns="0" tIns="0" bIns="0">
            <a:spAutoFit/>
          </a:bodyPr>
          <a:lstStyle/>
          <a:p>
            <a:pPr algn="l">
              <a:lnSpc>
                <a:spcPct val="100000"/>
              </a:lnSpc>
              <a:spcBef>
                <a:spcPts val="0"/>
              </a:spcBef>
            </a:pPr>
            <a:r>
              <a:rPr sz="4000" b="0" i="0">
                <a:solidFill>
                  <a:srgbClr val="EAF6F3"/>
                </a:solidFill>
                <a:latin typeface="Georgia"/>
              </a:rPr>
              <a:t>45,624</a:t>
            </a:r>
            <a:r>
              <a:rPr sz="1700" b="0" i="0">
                <a:solidFill>
                  <a:srgbClr val="7D9A95"/>
                </a:solidFill>
                <a:latin typeface="Georgia"/>
              </a:rPr>
              <a:t> kg</a:t>
            </a:r>
          </a:p>
        </p:txBody>
      </p:sp>
      <p:sp>
        <p:nvSpPr>
          <p:cNvPr id="9" name="Rectangle 8"/>
          <p:cNvSpPr/>
          <p:nvPr/>
        </p:nvSpPr>
        <p:spPr>
          <a:xfrm>
            <a:off x="1115568" y="4133087"/>
            <a:ext cx="426110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4215383"/>
            <a:ext cx="237744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A7C3BE"/>
                </a:solidFill>
                <a:latin typeface="Segoe UI"/>
              </a:rPr>
              <a:t>Period</a:t>
            </a:r>
          </a:p>
        </p:txBody>
      </p:sp>
      <p:sp>
        <p:nvSpPr>
          <p:cNvPr id="11" name="TextBox 10"/>
          <p:cNvSpPr txBox="1"/>
          <p:nvPr/>
        </p:nvSpPr>
        <p:spPr>
          <a:xfrm>
            <a:off x="3200400" y="4215383"/>
            <a:ext cx="2176272"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2026-08-01 → 09-11  ·  42 d</a:t>
            </a:r>
          </a:p>
        </p:txBody>
      </p:sp>
      <p:sp>
        <p:nvSpPr>
          <p:cNvPr id="12" name="Rectangle 11"/>
          <p:cNvSpPr/>
          <p:nvPr/>
        </p:nvSpPr>
        <p:spPr>
          <a:xfrm>
            <a:off x="1115568" y="4498848"/>
            <a:ext cx="426110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581144"/>
            <a:ext cx="237744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A7C3BE"/>
                </a:solidFill>
                <a:latin typeface="Segoe UI"/>
              </a:rPr>
              <a:t>Agreement with imagery</a:t>
            </a:r>
          </a:p>
        </p:txBody>
      </p:sp>
      <p:sp>
        <p:nvSpPr>
          <p:cNvPr id="14" name="TextBox 13"/>
          <p:cNvSpPr txBox="1"/>
          <p:nvPr/>
        </p:nvSpPr>
        <p:spPr>
          <a:xfrm>
            <a:off x="3200400" y="4581144"/>
            <a:ext cx="2176272"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87.4%</a:t>
            </a:r>
          </a:p>
        </p:txBody>
      </p:sp>
      <p:sp>
        <p:nvSpPr>
          <p:cNvPr id="15" name="Rectangle 14"/>
          <p:cNvSpPr/>
          <p:nvPr/>
        </p:nvSpPr>
        <p:spPr>
          <a:xfrm>
            <a:off x="1115568" y="4864608"/>
            <a:ext cx="426110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568" y="4946904"/>
            <a:ext cx="237744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A7C3BE"/>
                </a:solidFill>
                <a:latin typeface="Segoe UI"/>
              </a:rPr>
              <a:t>Rule applied</a:t>
            </a:r>
          </a:p>
        </p:txBody>
      </p:sp>
      <p:sp>
        <p:nvSpPr>
          <p:cNvPr id="17" name="TextBox 16"/>
          <p:cNvSpPr txBox="1"/>
          <p:nvPr/>
        </p:nvSpPr>
        <p:spPr>
          <a:xfrm>
            <a:off x="3200400" y="4946904"/>
            <a:ext cx="2176272"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RULE-001</a:t>
            </a:r>
          </a:p>
        </p:txBody>
      </p:sp>
      <p:sp>
        <p:nvSpPr>
          <p:cNvPr id="18" name="TextBox 17"/>
          <p:cNvSpPr txBox="1"/>
          <p:nvPr/>
        </p:nvSpPr>
        <p:spPr>
          <a:xfrm>
            <a:off x="6345936" y="2286000"/>
            <a:ext cx="5029200" cy="914400"/>
          </a:xfrm>
          <a:prstGeom prst="rect">
            <a:avLst/>
          </a:prstGeom>
          <a:noFill/>
        </p:spPr>
        <p:txBody>
          <a:bodyPr wrap="square" anchor="t" lIns="0" rIns="0" tIns="0" bIns="0">
            <a:spAutoFit/>
          </a:bodyPr>
          <a:lstStyle/>
          <a:p>
            <a:pPr algn="l">
              <a:lnSpc>
                <a:spcPct val="134000"/>
              </a:lnSpc>
              <a:spcBef>
                <a:spcPts val="0"/>
              </a:spcBef>
            </a:pPr>
            <a:r>
              <a:rPr sz="1400" b="0" i="0">
                <a:solidFill>
                  <a:srgbClr val="A7C3BE"/>
                </a:solidFill>
                <a:latin typeface="Segoe UI"/>
              </a:rPr>
              <a:t>The report id is not a serial number. It is a </a:t>
            </a:r>
            <a:r>
              <a:rPr sz="1400" b="1" i="0">
                <a:solidFill>
                  <a:srgbClr val="EAF6F3"/>
                </a:solidFill>
                <a:latin typeface="Segoe UI"/>
              </a:rPr>
              <a:t>SHA-256 over what the report asserts</a:t>
            </a:r>
            <a:r>
              <a:rPr sz="1400" b="0" i="0">
                <a:solidFill>
                  <a:srgbClr val="A7C3BE"/>
                </a:solidFill>
                <a:latin typeface="Segoe UI"/>
              </a:rPr>
              <a:t> — site, period, CO₂ figure, verdict, rule.</a:t>
            </a:r>
          </a:p>
        </p:txBody>
      </p:sp>
      <p:sp>
        <p:nvSpPr>
          <p:cNvPr id="19" name="TextBox 18"/>
          <p:cNvSpPr txBox="1"/>
          <p:nvPr/>
        </p:nvSpPr>
        <p:spPr>
          <a:xfrm>
            <a:off x="6345936" y="3310128"/>
            <a:ext cx="5029200" cy="1920240"/>
          </a:xfrm>
          <a:prstGeom prst="rect">
            <a:avLst/>
          </a:prstGeom>
          <a:noFill/>
        </p:spPr>
        <p:txBody>
          <a:bodyPr wrap="square" anchor="t" lIns="0" rIns="0" tIns="0" bIns="0">
            <a:spAutoFit/>
          </a:bodyPr>
          <a:lstStyle/>
          <a:p>
            <a:pPr>
              <a:lnSpc>
                <a:spcPct val="124000"/>
              </a:lnSpc>
              <a:spcAft>
                <a:spcPts val="700"/>
              </a:spcAft>
            </a:pPr>
            <a:r>
              <a:rPr sz="1300">
                <a:solidFill>
                  <a:srgbClr val="2DD4BF"/>
                </a:solidFill>
                <a:latin typeface="Segoe UI"/>
              </a:rPr>
              <a:t>—  </a:t>
            </a:r>
            <a:r>
              <a:rPr sz="1300" b="0">
                <a:solidFill>
                  <a:srgbClr val="A7C3BE"/>
                </a:solidFill>
                <a:latin typeface="Segoe UI"/>
              </a:rPr>
              <a:t>Re-run the demo and the same data mints the </a:t>
            </a:r>
            <a:r>
              <a:rPr sz="1300" b="1">
                <a:solidFill>
                  <a:srgbClr val="EAF6F3"/>
                </a:solidFill>
                <a:latin typeface="Segoe UI"/>
              </a:rPr>
              <a:t>same id</a:t>
            </a:r>
            <a:r>
              <a:rPr sz="1300" b="0">
                <a:solidFill>
                  <a:srgbClr val="A7C3BE"/>
                </a:solidFill>
                <a:latin typeface="Segoe UI"/>
              </a:rPr>
              <a:t>, so yesterday’s screenshot still matches today’s system.</a:t>
            </a:r>
          </a:p>
          <a:p>
            <a:pPr>
              <a:lnSpc>
                <a:spcPct val="124000"/>
              </a:lnSpc>
              <a:spcAft>
                <a:spcPts val="700"/>
              </a:spcAft>
            </a:pPr>
            <a:r>
              <a:rPr sz="1300">
                <a:solidFill>
                  <a:srgbClr val="2DD4BF"/>
                </a:solidFill>
                <a:latin typeface="Segoe UI"/>
              </a:rPr>
              <a:t>—  </a:t>
            </a:r>
            <a:r>
              <a:rPr sz="1300" b="0">
                <a:solidFill>
                  <a:srgbClr val="A7C3BE"/>
                </a:solidFill>
                <a:latin typeface="Segoe UI"/>
              </a:rPr>
              <a:t>Move the published figure by </a:t>
            </a:r>
            <a:r>
              <a:rPr sz="1300" b="0">
                <a:solidFill>
                  <a:srgbClr val="EAF6F3"/>
                </a:solidFill>
                <a:latin typeface="Consolas"/>
              </a:rPr>
              <a:t>0.01 kg</a:t>
            </a:r>
            <a:r>
              <a:rPr sz="1300" b="0">
                <a:solidFill>
                  <a:srgbClr val="A7C3BE"/>
                </a:solidFill>
                <a:latin typeface="Segoe UI"/>
              </a:rPr>
              <a:t> and the id changes. Flip the verdict and it changes again.</a:t>
            </a:r>
          </a:p>
          <a:p>
            <a:pPr>
              <a:lnSpc>
                <a:spcPct val="124000"/>
              </a:lnSpc>
              <a:spcAft>
                <a:spcPts val="700"/>
              </a:spcAft>
            </a:pPr>
            <a:r>
              <a:rPr sz="1300">
                <a:solidFill>
                  <a:srgbClr val="2DD4BF"/>
                </a:solidFill>
                <a:latin typeface="Segoe UI"/>
              </a:rPr>
              <a:t>—  </a:t>
            </a:r>
            <a:r>
              <a:rPr sz="1300" b="0">
                <a:solidFill>
                  <a:srgbClr val="A7C3BE"/>
                </a:solidFill>
                <a:latin typeface="Segoe UI"/>
              </a:rPr>
              <a:t>The timestamp is deliberately </a:t>
            </a:r>
            <a:r>
              <a:rPr sz="1300" b="1">
                <a:solidFill>
                  <a:srgbClr val="EAF6F3"/>
                </a:solidFill>
                <a:latin typeface="Segoe UI"/>
              </a:rPr>
              <a:t>excluded</a:t>
            </a:r>
            <a:r>
              <a:rPr sz="1300" b="0">
                <a:solidFill>
                  <a:srgbClr val="A7C3BE"/>
                </a:solidFill>
                <a:latin typeface="Segoe UI"/>
              </a:rPr>
              <a:t> from the hash — otherwise the same data would mint a new identity on every refresh, and the id would prove nothing.</a:t>
            </a:r>
          </a:p>
        </p:txBody>
      </p:sp>
      <p:sp>
        <p:nvSpPr>
          <p:cNvPr id="20" name="TextBox 19"/>
          <p:cNvSpPr txBox="1"/>
          <p:nvPr/>
        </p:nvSpPr>
        <p:spPr>
          <a:xfrm>
            <a:off x="6345936" y="5230368"/>
            <a:ext cx="5029200" cy="548640"/>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7D9A95"/>
                </a:solidFill>
                <a:latin typeface="Segoe UI"/>
              </a:rPr>
              <a:t>Minting a sequence would imply an issuing authority this platform is not. A fingerprint claims only what it can back.</a:t>
            </a:r>
          </a:p>
        </p:txBody>
      </p:sp>
      <p:sp>
        <p:nvSpPr>
          <p:cNvPr id="21" name="Rectangle 20"/>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6272784"/>
            <a:ext cx="7380122"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7 / 10</a:t>
            </a:r>
          </a:p>
        </p:txBody>
      </p:sp>
      <p:sp>
        <p:nvSpPr>
          <p:cNvPr id="24" name="TextBox 23"/>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Algae Carbon Monitoring  ·  Pixel Error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STRAIGHT ANSWER</a:t>
            </a:r>
          </a:p>
        </p:txBody>
      </p:sp>
      <p:sp>
        <p:nvSpPr>
          <p:cNvPr id="3" name="TextBox 2"/>
          <p:cNvSpPr txBox="1"/>
          <p:nvPr/>
        </p:nvSpPr>
        <p:spPr>
          <a:xfrm>
            <a:off x="822960" y="932688"/>
            <a:ext cx="8595360" cy="1371600"/>
          </a:xfrm>
          <a:prstGeom prst="rect">
            <a:avLst/>
          </a:prstGeom>
          <a:noFill/>
        </p:spPr>
        <p:txBody>
          <a:bodyPr wrap="square" anchor="t" lIns="0" rIns="0" tIns="0" bIns="0">
            <a:spAutoFit/>
          </a:bodyPr>
          <a:lstStyle/>
          <a:p>
            <a:pPr algn="l">
              <a:lnSpc>
                <a:spcPct val="110000"/>
              </a:lnSpc>
              <a:spcBef>
                <a:spcPts val="0"/>
              </a:spcBef>
              <a:spcAft>
                <a:spcPts val="0"/>
              </a:spcAft>
            </a:pPr>
            <a:r>
              <a:rPr sz="3400" b="0" i="0">
                <a:solidFill>
                  <a:srgbClr val="EAF6F3"/>
                </a:solidFill>
                <a:latin typeface="Georgia"/>
              </a:rPr>
              <a:t>What’s real, what isn’t, and what we left out.</a:t>
            </a:r>
          </a:p>
        </p:txBody>
      </p:sp>
      <p:sp>
        <p:nvSpPr>
          <p:cNvPr id="4" name="Rounded Rectangle 3"/>
          <p:cNvSpPr/>
          <p:nvPr/>
        </p:nvSpPr>
        <p:spPr>
          <a:xfrm>
            <a:off x="822960" y="2286000"/>
            <a:ext cx="3364992" cy="3200400"/>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2542032"/>
            <a:ext cx="292608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1" i="0" spc="110">
                <a:solidFill>
                  <a:srgbClr val="35DCB7"/>
                </a:solidFill>
                <a:latin typeface="Segoe UI"/>
              </a:rPr>
              <a:t>REAL</a:t>
            </a:r>
          </a:p>
        </p:txBody>
      </p:sp>
      <p:sp>
        <p:nvSpPr>
          <p:cNvPr id="6" name="TextBox 5"/>
          <p:cNvSpPr txBox="1"/>
          <p:nvPr/>
        </p:nvSpPr>
        <p:spPr>
          <a:xfrm>
            <a:off x="1060704" y="2871216"/>
            <a:ext cx="2889504" cy="2468880"/>
          </a:xfrm>
          <a:prstGeom prst="rect">
            <a:avLst/>
          </a:prstGeom>
          <a:noFill/>
        </p:spPr>
        <p:txBody>
          <a:bodyPr wrap="square" anchor="t" lIns="0" rIns="0" tIns="0" bIns="0">
            <a:spAutoFit/>
          </a:bodyPr>
          <a:lstStyle/>
          <a:p>
            <a:pPr>
              <a:lnSpc>
                <a:spcPct val="124000"/>
              </a:lnSpc>
              <a:spcAft>
                <a:spcPts val="700"/>
              </a:spcAft>
            </a:pPr>
            <a:r>
              <a:rPr sz="1200">
                <a:solidFill>
                  <a:srgbClr val="2DD4BF"/>
                </a:solidFill>
                <a:latin typeface="Segoe UI"/>
              </a:rPr>
              <a:t>—  </a:t>
            </a:r>
            <a:r>
              <a:rPr sz="1200" b="0">
                <a:solidFill>
                  <a:srgbClr val="A7C3BE"/>
                </a:solidFill>
                <a:latin typeface="Segoe UI"/>
              </a:rPr>
              <a:t>Sentinel-2 imagery indices, from Copernicus.</a:t>
            </a:r>
          </a:p>
          <a:p>
            <a:pPr>
              <a:lnSpc>
                <a:spcPct val="124000"/>
              </a:lnSpc>
              <a:spcAft>
                <a:spcPts val="700"/>
              </a:spcAft>
            </a:pPr>
            <a:r>
              <a:rPr sz="1200">
                <a:solidFill>
                  <a:srgbClr val="2DD4BF"/>
                </a:solidFill>
                <a:latin typeface="Segoe UI"/>
              </a:rPr>
              <a:t>—  </a:t>
            </a:r>
            <a:r>
              <a:rPr sz="1200" b="0">
                <a:solidFill>
                  <a:srgbClr val="A7C3BE"/>
                </a:solidFill>
                <a:latin typeface="Segoe UI"/>
              </a:rPr>
              <a:t>Both facilities, and the pond blocks themselves.</a:t>
            </a:r>
          </a:p>
          <a:p>
            <a:pPr>
              <a:lnSpc>
                <a:spcPct val="124000"/>
              </a:lnSpc>
              <a:spcAft>
                <a:spcPts val="700"/>
              </a:spcAft>
            </a:pPr>
            <a:r>
              <a:rPr sz="1200">
                <a:solidFill>
                  <a:srgbClr val="2DD4BF"/>
                </a:solidFill>
                <a:latin typeface="Segoe UI"/>
              </a:rPr>
              <a:t>—  </a:t>
            </a:r>
            <a:r>
              <a:rPr sz="1200" b="0">
                <a:solidFill>
                  <a:srgbClr val="A7C3BE"/>
                </a:solidFill>
                <a:latin typeface="Segoe UI"/>
              </a:rPr>
              <a:t>1.8321 kg CO₂ per kg dry biomass, from published microalgae biofixation work.</a:t>
            </a:r>
          </a:p>
          <a:p>
            <a:pPr>
              <a:lnSpc>
                <a:spcPct val="124000"/>
              </a:lnSpc>
              <a:spcAft>
                <a:spcPts val="700"/>
              </a:spcAft>
            </a:pPr>
            <a:r>
              <a:rPr sz="1200">
                <a:solidFill>
                  <a:srgbClr val="2DD4BF"/>
                </a:solidFill>
                <a:latin typeface="Segoe UI"/>
              </a:rPr>
              <a:t>—  </a:t>
            </a:r>
            <a:r>
              <a:rPr sz="1200" b="0">
                <a:solidFill>
                  <a:srgbClr val="A7C3BE"/>
                </a:solidFill>
                <a:latin typeface="Segoe UI"/>
              </a:rPr>
              <a:t>The reconciliation logic, and every figure on screen — computed in the backend, never in the browser.</a:t>
            </a:r>
          </a:p>
        </p:txBody>
      </p:sp>
      <p:sp>
        <p:nvSpPr>
          <p:cNvPr id="7" name="Rounded Rectangle 6"/>
          <p:cNvSpPr/>
          <p:nvPr/>
        </p:nvSpPr>
        <p:spPr>
          <a:xfrm>
            <a:off x="4416552" y="2286000"/>
            <a:ext cx="3364992" cy="3200400"/>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2542032"/>
            <a:ext cx="292608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1" i="0" spc="110">
                <a:solidFill>
                  <a:srgbClr val="7D9A95"/>
                </a:solidFill>
                <a:latin typeface="Segoe UI"/>
              </a:rPr>
              <a:t>SIMULATED</a:t>
            </a:r>
          </a:p>
        </p:txBody>
      </p:sp>
      <p:sp>
        <p:nvSpPr>
          <p:cNvPr id="9" name="TextBox 8"/>
          <p:cNvSpPr txBox="1"/>
          <p:nvPr/>
        </p:nvSpPr>
        <p:spPr>
          <a:xfrm>
            <a:off x="4654296" y="2871216"/>
            <a:ext cx="2889504" cy="1463040"/>
          </a:xfrm>
          <a:prstGeom prst="rect">
            <a:avLst/>
          </a:prstGeom>
          <a:noFill/>
        </p:spPr>
        <p:txBody>
          <a:bodyPr wrap="square" anchor="t" lIns="0" rIns="0" tIns="0" bIns="0">
            <a:spAutoFit/>
          </a:bodyPr>
          <a:lstStyle/>
          <a:p>
            <a:pPr>
              <a:lnSpc>
                <a:spcPct val="124000"/>
              </a:lnSpc>
              <a:spcAft>
                <a:spcPts val="700"/>
              </a:spcAft>
            </a:pPr>
            <a:r>
              <a:rPr sz="1200">
                <a:solidFill>
                  <a:srgbClr val="21544F"/>
                </a:solidFill>
                <a:latin typeface="Segoe UI"/>
              </a:rPr>
              <a:t>—  </a:t>
            </a:r>
            <a:r>
              <a:rPr sz="1200" b="0">
                <a:solidFill>
                  <a:srgbClr val="A7C3BE"/>
                </a:solidFill>
                <a:latin typeface="Segoe UI"/>
              </a:rPr>
              <a:t>The sensor stream: a logistic growth curve with a diurnal cycle and noise, standing in for pond hardware we do not have.</a:t>
            </a:r>
          </a:p>
        </p:txBody>
      </p:sp>
      <p:sp>
        <p:nvSpPr>
          <p:cNvPr id="10" name="TextBox 9"/>
          <p:cNvSpPr txBox="1"/>
          <p:nvPr/>
        </p:nvSpPr>
        <p:spPr>
          <a:xfrm>
            <a:off x="4654296" y="4059936"/>
            <a:ext cx="2889504" cy="1097280"/>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7D9A95"/>
                </a:solidFill>
                <a:latin typeface="Segoe UI"/>
              </a:rPr>
              <a:t>Which is the honest shape of the problem — the sensor side is exactly the side nobody should have to take on trust.</a:t>
            </a:r>
          </a:p>
        </p:txBody>
      </p:sp>
      <p:sp>
        <p:nvSpPr>
          <p:cNvPr id="11" name="Rounded Rectangle 10"/>
          <p:cNvSpPr/>
          <p:nvPr/>
        </p:nvSpPr>
        <p:spPr>
          <a:xfrm>
            <a:off x="8010144" y="2286000"/>
            <a:ext cx="3364992" cy="3200400"/>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7888" y="2542032"/>
            <a:ext cx="292608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1" i="0" spc="110">
                <a:solidFill>
                  <a:srgbClr val="7D9A95"/>
                </a:solidFill>
                <a:latin typeface="Segoe UI"/>
              </a:rPr>
              <a:t>OUT OF SCOPE, DELIBERATELY</a:t>
            </a:r>
          </a:p>
        </p:txBody>
      </p:sp>
      <p:sp>
        <p:nvSpPr>
          <p:cNvPr id="13" name="TextBox 12"/>
          <p:cNvSpPr txBox="1"/>
          <p:nvPr/>
        </p:nvSpPr>
        <p:spPr>
          <a:xfrm>
            <a:off x="8247888" y="2871216"/>
            <a:ext cx="2889504" cy="2468880"/>
          </a:xfrm>
          <a:prstGeom prst="rect">
            <a:avLst/>
          </a:prstGeom>
          <a:noFill/>
        </p:spPr>
        <p:txBody>
          <a:bodyPr wrap="square" anchor="t" lIns="0" rIns="0" tIns="0" bIns="0">
            <a:spAutoFit/>
          </a:bodyPr>
          <a:lstStyle/>
          <a:p>
            <a:pPr>
              <a:lnSpc>
                <a:spcPct val="124000"/>
              </a:lnSpc>
              <a:spcAft>
                <a:spcPts val="700"/>
              </a:spcAft>
            </a:pPr>
            <a:r>
              <a:rPr sz="1200">
                <a:solidFill>
                  <a:srgbClr val="21544F"/>
                </a:solidFill>
                <a:latin typeface="Segoe UI"/>
              </a:rPr>
              <a:t>—  </a:t>
            </a:r>
            <a:r>
              <a:rPr sz="1200" b="0">
                <a:solidFill>
                  <a:srgbClr val="A7C3BE"/>
                </a:solidFill>
                <a:latin typeface="Segoe UI"/>
              </a:rPr>
              <a:t>Auth and multi-tenancy.</a:t>
            </a:r>
          </a:p>
          <a:p>
            <a:pPr>
              <a:lnSpc>
                <a:spcPct val="124000"/>
              </a:lnSpc>
              <a:spcAft>
                <a:spcPts val="700"/>
              </a:spcAft>
            </a:pPr>
            <a:r>
              <a:rPr sz="1200">
                <a:solidFill>
                  <a:srgbClr val="21544F"/>
                </a:solidFill>
                <a:latin typeface="Segoe UI"/>
              </a:rPr>
              <a:t>—  </a:t>
            </a:r>
            <a:r>
              <a:rPr sz="1200" b="0">
                <a:solidFill>
                  <a:srgbClr val="A7C3BE"/>
                </a:solidFill>
                <a:latin typeface="Segoe UI"/>
              </a:rPr>
              <a:t>A live credit registry or blockchain.</a:t>
            </a:r>
          </a:p>
          <a:p>
            <a:pPr>
              <a:lnSpc>
                <a:spcPct val="124000"/>
              </a:lnSpc>
              <a:spcAft>
                <a:spcPts val="700"/>
              </a:spcAft>
            </a:pPr>
            <a:r>
              <a:rPr sz="1200">
                <a:solidFill>
                  <a:srgbClr val="21544F"/>
                </a:solidFill>
                <a:latin typeface="Segoe UI"/>
              </a:rPr>
              <a:t>—  </a:t>
            </a:r>
            <a:r>
              <a:rPr sz="1200" b="1">
                <a:solidFill>
                  <a:srgbClr val="EAF6F3"/>
                </a:solidFill>
                <a:latin typeface="Segoe UI"/>
              </a:rPr>
              <a:t>Permanence.</a:t>
            </a:r>
            <a:r>
              <a:rPr sz="1200" b="0">
                <a:solidFill>
                  <a:srgbClr val="A7C3BE"/>
                </a:solidFill>
                <a:latin typeface="Segoe UI"/>
              </a:rPr>
              <a:t> We report carbon as </a:t>
            </a:r>
            <a:r>
              <a:rPr sz="1200" b="0">
                <a:solidFill>
                  <a:srgbClr val="EAF6F3"/>
                </a:solidFill>
                <a:latin typeface="Segoe UI"/>
              </a:rPr>
              <a:t>fixed</a:t>
            </a:r>
            <a:r>
              <a:rPr sz="1200" b="0">
                <a:solidFill>
                  <a:srgbClr val="A7C3BE"/>
                </a:solidFill>
                <a:latin typeface="Segoe UI"/>
              </a:rPr>
              <a:t>, not as permanently sequestered: what happens to harvested biomass is outside what this platform can see.</a:t>
            </a:r>
          </a:p>
        </p:txBody>
      </p:sp>
      <p:sp>
        <p:nvSpPr>
          <p:cNvPr id="14" name="Rectangle 13"/>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6272784"/>
            <a:ext cx="8434425"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8 / 10</a:t>
            </a:r>
          </a:p>
        </p:txBody>
      </p:sp>
      <p:sp>
        <p:nvSpPr>
          <p:cNvPr id="17" name="TextBox 16"/>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Algae Carbon Monitoring  ·  Pixel Error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566928"/>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BUILT</a:t>
            </a:r>
          </a:p>
        </p:txBody>
      </p:sp>
      <p:sp>
        <p:nvSpPr>
          <p:cNvPr id="3" name="TextBox 2"/>
          <p:cNvSpPr txBox="1"/>
          <p:nvPr/>
        </p:nvSpPr>
        <p:spPr>
          <a:xfrm>
            <a:off x="822960" y="932688"/>
            <a:ext cx="8595360" cy="1371600"/>
          </a:xfrm>
          <a:prstGeom prst="rect">
            <a:avLst/>
          </a:prstGeom>
          <a:noFill/>
        </p:spPr>
        <p:txBody>
          <a:bodyPr wrap="square" anchor="t" lIns="0" rIns="0" tIns="0" bIns="0">
            <a:spAutoFit/>
          </a:bodyPr>
          <a:lstStyle/>
          <a:p>
            <a:pPr algn="l">
              <a:lnSpc>
                <a:spcPct val="110000"/>
              </a:lnSpc>
              <a:spcBef>
                <a:spcPts val="0"/>
              </a:spcBef>
              <a:spcAft>
                <a:spcPts val="0"/>
              </a:spcAft>
            </a:pPr>
            <a:r>
              <a:rPr sz="3400" b="0" i="0">
                <a:solidFill>
                  <a:srgbClr val="EAF6F3"/>
                </a:solidFill>
                <a:latin typeface="Georgia"/>
              </a:rPr>
              <a:t>Deployed, gated, and it runs with the wifi off.</a:t>
            </a:r>
          </a:p>
        </p:txBody>
      </p:sp>
      <p:sp>
        <p:nvSpPr>
          <p:cNvPr id="4" name="Rounded Rectangle 3"/>
          <p:cNvSpPr/>
          <p:nvPr/>
        </p:nvSpPr>
        <p:spPr>
          <a:xfrm>
            <a:off x="822960" y="2286000"/>
            <a:ext cx="5029200" cy="1481328"/>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2523744"/>
            <a:ext cx="448056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STACK</a:t>
            </a:r>
          </a:p>
        </p:txBody>
      </p:sp>
      <p:sp>
        <p:nvSpPr>
          <p:cNvPr id="6" name="TextBox 5"/>
          <p:cNvSpPr txBox="1"/>
          <p:nvPr/>
        </p:nvSpPr>
        <p:spPr>
          <a:xfrm>
            <a:off x="1115568" y="2834640"/>
            <a:ext cx="4480560" cy="914400"/>
          </a:xfrm>
          <a:prstGeom prst="rect">
            <a:avLst/>
          </a:prstGeom>
          <a:noFill/>
        </p:spPr>
        <p:txBody>
          <a:bodyPr wrap="square" anchor="t" lIns="0" rIns="0" tIns="0" bIns="0">
            <a:spAutoFit/>
          </a:bodyPr>
          <a:lstStyle/>
          <a:p>
            <a:pPr algn="l">
              <a:lnSpc>
                <a:spcPct val="130000"/>
              </a:lnSpc>
              <a:spcBef>
                <a:spcPts val="0"/>
              </a:spcBef>
            </a:pPr>
            <a:r>
              <a:rPr sz="1200" b="0" i="0">
                <a:solidFill>
                  <a:srgbClr val="A7C3BE"/>
                </a:solidFill>
                <a:latin typeface="Segoe UI"/>
              </a:rPr>
              <a:t>FastAPI and React/Vite, shipped as </a:t>
            </a:r>
            <a:r>
              <a:rPr sz="1200" b="1" i="0">
                <a:solidFill>
                  <a:srgbClr val="EAF6F3"/>
                </a:solidFill>
                <a:latin typeface="Segoe UI"/>
              </a:rPr>
              <a:t>one service on one origin</a:t>
            </a:r>
            <a:r>
              <a:rPr sz="1200" b="0" i="0">
                <a:solidFill>
                  <a:srgbClr val="A7C3BE"/>
                </a:solidFill>
                <a:latin typeface="Segoe UI"/>
              </a:rPr>
              <a:t> — the API serves the built dashboard itself, so there is no CORS allowlist, no second host, and no production proxy to misconfigure.</a:t>
            </a:r>
          </a:p>
        </p:txBody>
      </p:sp>
      <p:sp>
        <p:nvSpPr>
          <p:cNvPr id="7" name="Rounded Rectangle 6"/>
          <p:cNvSpPr/>
          <p:nvPr/>
        </p:nvSpPr>
        <p:spPr>
          <a:xfrm>
            <a:off x="822960" y="3913632"/>
            <a:ext cx="5029200" cy="1572768"/>
          </a:xfrm>
          <a:prstGeom prst="roundRect">
            <a:avLst>
              <a:gd name="adj" fmla="val 2500"/>
            </a:avLst>
          </a:prstGeom>
          <a:solidFill>
            <a:srgbClr val="0E1F26"/>
          </a:solidFill>
          <a:ln w="12700">
            <a:solidFill>
              <a:srgbClr val="1A3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4151376"/>
            <a:ext cx="448056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THE STAGE FALLBACK</a:t>
            </a:r>
          </a:p>
        </p:txBody>
      </p:sp>
      <p:sp>
        <p:nvSpPr>
          <p:cNvPr id="9" name="TextBox 8"/>
          <p:cNvSpPr txBox="1"/>
          <p:nvPr/>
        </p:nvSpPr>
        <p:spPr>
          <a:xfrm>
            <a:off x="1115568" y="4462272"/>
            <a:ext cx="4480560" cy="914400"/>
          </a:xfrm>
          <a:prstGeom prst="rect">
            <a:avLst/>
          </a:prstGeom>
          <a:noFill/>
        </p:spPr>
        <p:txBody>
          <a:bodyPr wrap="square" anchor="t" lIns="0" rIns="0" tIns="0" bIns="0">
            <a:spAutoFit/>
          </a:bodyPr>
          <a:lstStyle/>
          <a:p>
            <a:pPr algn="l">
              <a:lnSpc>
                <a:spcPct val="130000"/>
              </a:lnSpc>
              <a:spcBef>
                <a:spcPts val="0"/>
              </a:spcBef>
            </a:pPr>
            <a:r>
              <a:rPr sz="1200" b="0" i="0">
                <a:solidFill>
                  <a:srgbClr val="EAF6F3"/>
                </a:solidFill>
                <a:latin typeface="Consolas"/>
              </a:rPr>
              <a:t>npm run demo</a:t>
            </a:r>
            <a:r>
              <a:rPr sz="1200" b="0" i="0">
                <a:solidFill>
                  <a:srgbClr val="A7C3BE"/>
                </a:solidFill>
                <a:latin typeface="Segoe UI"/>
              </a:rPr>
              <a:t> brings the whole platform up on one local port in the same shape the cloud runs, with </a:t>
            </a:r>
            <a:r>
              <a:rPr sz="1200" b="1" i="0">
                <a:solidFill>
                  <a:srgbClr val="EAF6F3"/>
                </a:solidFill>
                <a:latin typeface="Segoe UI"/>
              </a:rPr>
              <a:t>no internet at all</a:t>
            </a:r>
            <a:r>
              <a:rPr sz="1200" b="0" i="0">
                <a:solidFill>
                  <a:srgbClr val="A7C3BE"/>
                </a:solidFill>
                <a:latin typeface="Segoe UI"/>
              </a:rPr>
              <a:t>. The build fails if the page so much as references an external origin.</a:t>
            </a:r>
          </a:p>
        </p:txBody>
      </p:sp>
      <p:sp>
        <p:nvSpPr>
          <p:cNvPr id="10" name="Rounded Rectangle 9"/>
          <p:cNvSpPr/>
          <p:nvPr/>
        </p:nvSpPr>
        <p:spPr>
          <a:xfrm>
            <a:off x="6345936" y="2286000"/>
            <a:ext cx="5029200" cy="3200400"/>
          </a:xfrm>
          <a:prstGeom prst="roundRect">
            <a:avLst>
              <a:gd name="adj" fmla="val 2500"/>
            </a:avLst>
          </a:prstGeom>
          <a:solidFill>
            <a:srgbClr val="112A30"/>
          </a:solidFill>
          <a:ln w="12700">
            <a:solidFill>
              <a:srgbClr val="215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38544" y="2542032"/>
            <a:ext cx="448056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10">
                <a:solidFill>
                  <a:srgbClr val="7D9A95"/>
                </a:solidFill>
                <a:latin typeface="Segoe UI"/>
              </a:rPr>
              <a:t>EVERY PHASE HAS A GATE, AND THEY ALL PASS</a:t>
            </a:r>
          </a:p>
        </p:txBody>
      </p:sp>
      <p:sp>
        <p:nvSpPr>
          <p:cNvPr id="12" name="Rectangle 11"/>
          <p:cNvSpPr/>
          <p:nvPr/>
        </p:nvSpPr>
        <p:spPr>
          <a:xfrm>
            <a:off x="6638544" y="2962656"/>
            <a:ext cx="444398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38544" y="3054096"/>
            <a:ext cx="2834640" cy="310896"/>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A7C3BE"/>
                </a:solidFill>
                <a:latin typeface="Segoe UI"/>
              </a:rPr>
              <a:t>Data, CO₂ engine, reconciliation</a:t>
            </a:r>
          </a:p>
        </p:txBody>
      </p:sp>
      <p:sp>
        <p:nvSpPr>
          <p:cNvPr id="14" name="TextBox 13"/>
          <p:cNvSpPr txBox="1"/>
          <p:nvPr/>
        </p:nvSpPr>
        <p:spPr>
          <a:xfrm>
            <a:off x="9326880" y="3054096"/>
            <a:ext cx="1755648"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38  ·  47  ·  34</a:t>
            </a:r>
          </a:p>
        </p:txBody>
      </p:sp>
      <p:sp>
        <p:nvSpPr>
          <p:cNvPr id="15" name="Rectangle 14"/>
          <p:cNvSpPr/>
          <p:nvPr/>
        </p:nvSpPr>
        <p:spPr>
          <a:xfrm>
            <a:off x="6638544" y="3383280"/>
            <a:ext cx="444398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38544" y="3474720"/>
            <a:ext cx="2834640" cy="310896"/>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A7C3BE"/>
                </a:solidFill>
                <a:latin typeface="Segoe UI"/>
              </a:rPr>
              <a:t>Dashboard, report, deployment</a:t>
            </a:r>
          </a:p>
        </p:txBody>
      </p:sp>
      <p:sp>
        <p:nvSpPr>
          <p:cNvPr id="17" name="TextBox 16"/>
          <p:cNvSpPr txBox="1"/>
          <p:nvPr/>
        </p:nvSpPr>
        <p:spPr>
          <a:xfrm>
            <a:off x="9326880" y="3474720"/>
            <a:ext cx="1755648"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107  ·  184  ·  128</a:t>
            </a:r>
          </a:p>
        </p:txBody>
      </p:sp>
      <p:sp>
        <p:nvSpPr>
          <p:cNvPr id="18" name="Rectangle 17"/>
          <p:cNvSpPr/>
          <p:nvPr/>
        </p:nvSpPr>
        <p:spPr>
          <a:xfrm>
            <a:off x="6638544" y="3803904"/>
            <a:ext cx="4443984" cy="1270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3895344"/>
            <a:ext cx="2834640" cy="310896"/>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35DCB7"/>
                </a:solidFill>
                <a:latin typeface="Segoe UI"/>
              </a:rPr>
              <a:t>Against the live service</a:t>
            </a:r>
          </a:p>
        </p:txBody>
      </p:sp>
      <p:sp>
        <p:nvSpPr>
          <p:cNvPr id="20" name="TextBox 19"/>
          <p:cNvSpPr txBox="1"/>
          <p:nvPr/>
        </p:nvSpPr>
        <p:spPr>
          <a:xfrm>
            <a:off x="9326880" y="3895344"/>
            <a:ext cx="1755648" cy="274320"/>
          </a:xfrm>
          <a:prstGeom prst="rect">
            <a:avLst/>
          </a:prstGeom>
          <a:noFill/>
        </p:spPr>
        <p:txBody>
          <a:bodyPr wrap="square" anchor="t" lIns="0" rIns="0" tIns="0" bIns="0">
            <a:spAutoFit/>
          </a:bodyPr>
          <a:lstStyle/>
          <a:p>
            <a:pPr algn="r">
              <a:lnSpc>
                <a:spcPct val="100000"/>
              </a:lnSpc>
              <a:spcBef>
                <a:spcPts val="0"/>
              </a:spcBef>
              <a:spcAft>
                <a:spcPts val="0"/>
              </a:spcAft>
            </a:pPr>
            <a:r>
              <a:rPr sz="1100" b="0" i="0">
                <a:solidFill>
                  <a:srgbClr val="A7C3BE"/>
                </a:solidFill>
                <a:latin typeface="Consolas"/>
              </a:rPr>
              <a:t>125 / 125</a:t>
            </a:r>
          </a:p>
        </p:txBody>
      </p:sp>
      <p:sp>
        <p:nvSpPr>
          <p:cNvPr id="21" name="TextBox 20"/>
          <p:cNvSpPr txBox="1"/>
          <p:nvPr/>
        </p:nvSpPr>
        <p:spPr>
          <a:xfrm>
            <a:off x="6638544" y="4443984"/>
            <a:ext cx="4480560" cy="1005840"/>
          </a:xfrm>
          <a:prstGeom prst="rect">
            <a:avLst/>
          </a:prstGeom>
          <a:noFill/>
        </p:spPr>
        <p:txBody>
          <a:bodyPr wrap="square" anchor="t" lIns="0" rIns="0" tIns="0" bIns="0">
            <a:spAutoFit/>
          </a:bodyPr>
          <a:lstStyle/>
          <a:p>
            <a:pPr algn="l">
              <a:lnSpc>
                <a:spcPct val="132000"/>
              </a:lnSpc>
              <a:spcBef>
                <a:spcPts val="0"/>
              </a:spcBef>
              <a:spcAft>
                <a:spcPts val="0"/>
              </a:spcAft>
            </a:pPr>
            <a:r>
              <a:rPr sz="1050" b="0" i="0">
                <a:solidFill>
                  <a:srgbClr val="7D9A95"/>
                </a:solidFill>
                <a:latin typeface="Segoe UI"/>
              </a:rPr>
              <a:t>The gates drive a real browser and compare every figure on screen to the API behind it. The report is exported through Chrome’s own print pipeline and checked as PDF bytes, so “export” means the artifact, not the button.</a:t>
            </a:r>
          </a:p>
        </p:txBody>
      </p:sp>
      <p:sp>
        <p:nvSpPr>
          <p:cNvPr id="22" name="Rectangle 21"/>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6272784"/>
            <a:ext cx="9488728"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9 / 10</a:t>
            </a:r>
          </a:p>
        </p:txBody>
      </p:sp>
      <p:sp>
        <p:nvSpPr>
          <p:cNvPr id="25" name="TextBox 24"/>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Algae Carbon Monitoring  ·  Pixel Error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E13"/>
        </a:solidFill>
        <a:effectLst/>
      </p:bgPr>
    </p:bg>
    <p:spTree>
      <p:nvGrpSpPr>
        <p:cNvPr id="1" name=""/>
        <p:cNvGrpSpPr/>
        <p:nvPr/>
      </p:nvGrpSpPr>
      <p:grpSpPr/>
      <p:sp>
        <p:nvSpPr>
          <p:cNvPr id="2" name="TextBox 1"/>
          <p:cNvSpPr txBox="1"/>
          <p:nvPr/>
        </p:nvSpPr>
        <p:spPr>
          <a:xfrm>
            <a:off x="822960" y="182880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spc="160">
                <a:solidFill>
                  <a:srgbClr val="2DD4BF"/>
                </a:solidFill>
                <a:latin typeface="Segoe UI"/>
              </a:rPr>
              <a:t>PIXEL ERROR  ·  HACKOUT’26</a:t>
            </a:r>
          </a:p>
        </p:txBody>
      </p:sp>
      <p:sp>
        <p:nvSpPr>
          <p:cNvPr id="3" name="TextBox 2"/>
          <p:cNvSpPr txBox="1"/>
          <p:nvPr/>
        </p:nvSpPr>
        <p:spPr>
          <a:xfrm>
            <a:off x="822960" y="2212848"/>
            <a:ext cx="8961120" cy="2011680"/>
          </a:xfrm>
          <a:prstGeom prst="rect">
            <a:avLst/>
          </a:prstGeom>
          <a:noFill/>
        </p:spPr>
        <p:txBody>
          <a:bodyPr wrap="square" anchor="t" lIns="0" rIns="0" tIns="0" bIns="0">
            <a:spAutoFit/>
          </a:bodyPr>
          <a:lstStyle/>
          <a:p>
            <a:pPr algn="l">
              <a:lnSpc>
                <a:spcPct val="108000"/>
              </a:lnSpc>
              <a:spcBef>
                <a:spcPts val="0"/>
              </a:spcBef>
              <a:spcAft>
                <a:spcPts val="0"/>
              </a:spcAft>
            </a:pPr>
            <a:r>
              <a:rPr sz="4600" b="0" i="0">
                <a:solidFill>
                  <a:srgbClr val="EAF6F3"/>
                </a:solidFill>
                <a:latin typeface="Georgia"/>
              </a:rPr>
              <a:t>We don’t just show sensor numbers — we prove them.</a:t>
            </a:r>
          </a:p>
        </p:txBody>
      </p:sp>
      <p:sp>
        <p:nvSpPr>
          <p:cNvPr id="4" name="TextBox 3"/>
          <p:cNvSpPr txBox="1"/>
          <p:nvPr/>
        </p:nvSpPr>
        <p:spPr>
          <a:xfrm>
            <a:off x="822960" y="4315968"/>
            <a:ext cx="7498079" cy="822960"/>
          </a:xfrm>
          <a:prstGeom prst="rect">
            <a:avLst/>
          </a:prstGeom>
          <a:noFill/>
        </p:spPr>
        <p:txBody>
          <a:bodyPr wrap="square" anchor="t" lIns="0" rIns="0" tIns="0" bIns="0">
            <a:spAutoFit/>
          </a:bodyPr>
          <a:lstStyle/>
          <a:p>
            <a:pPr algn="l">
              <a:lnSpc>
                <a:spcPct val="134000"/>
              </a:lnSpc>
              <a:spcBef>
                <a:spcPts val="0"/>
              </a:spcBef>
              <a:spcAft>
                <a:spcPts val="0"/>
              </a:spcAft>
            </a:pPr>
            <a:r>
              <a:rPr sz="1500" b="0" i="0">
                <a:solidFill>
                  <a:srgbClr val="A7C3BE"/>
                </a:solidFill>
                <a:latin typeface="Segoe UI"/>
              </a:rPr>
              <a:t>Six ponds, two real facilities, one independent instrument, and a rule that says out loud when the numbers stop agreeing.</a:t>
            </a:r>
          </a:p>
        </p:txBody>
      </p:sp>
      <p:sp>
        <p:nvSpPr>
          <p:cNvPr id="5" name="TextBox 4"/>
          <p:cNvSpPr txBox="1"/>
          <p:nvPr/>
        </p:nvSpPr>
        <p:spPr>
          <a:xfrm>
            <a:off x="822960" y="5285232"/>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2DD4BF"/>
                </a:solidFill>
                <a:latin typeface="Consolas"/>
              </a:rPr>
              <a:t>algae-carbon-platform.onrender.com</a:t>
            </a:r>
          </a:p>
        </p:txBody>
      </p:sp>
      <p:sp>
        <p:nvSpPr>
          <p:cNvPr id="6" name="Rectangle 5"/>
          <p:cNvSpPr/>
          <p:nvPr/>
        </p:nvSpPr>
        <p:spPr>
          <a:xfrm>
            <a:off x="822960" y="6272784"/>
            <a:ext cx="10543032" cy="19050"/>
          </a:xfrm>
          <a:prstGeom prst="rect">
            <a:avLst/>
          </a:prstGeom>
          <a:solidFill>
            <a:srgbClr val="1A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6272784"/>
            <a:ext cx="10543032" cy="1905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0" y="6400800"/>
            <a:ext cx="941832" cy="274320"/>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7D9A95"/>
                </a:solidFill>
                <a:latin typeface="Consolas"/>
              </a:rPr>
              <a:t>10 / 10</a:t>
            </a:r>
          </a:p>
        </p:txBody>
      </p:sp>
      <p:sp>
        <p:nvSpPr>
          <p:cNvPr id="9" name="TextBox 8"/>
          <p:cNvSpPr txBox="1"/>
          <p:nvPr/>
        </p:nvSpPr>
        <p:spPr>
          <a:xfrm>
            <a:off x="822960" y="6400800"/>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7D9A95"/>
                </a:solidFill>
                <a:latin typeface="Consolas"/>
              </a:rPr>
              <a:t>Algae Carbon Monitoring  ·  Pixel Error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